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8" r:id="rId4"/>
    <p:sldId id="270" r:id="rId5"/>
    <p:sldId id="271" r:id="rId6"/>
    <p:sldId id="272" r:id="rId7"/>
    <p:sldId id="260" r:id="rId8"/>
    <p:sldId id="265" r:id="rId9"/>
    <p:sldId id="263" r:id="rId10"/>
    <p:sldId id="259" r:id="rId11"/>
    <p:sldId id="267" r:id="rId12"/>
    <p:sldId id="262" r:id="rId13"/>
    <p:sldId id="261" r:id="rId14"/>
    <p:sldId id="273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79" autoAdjust="0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4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73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15C2-9781-E8F7-947A-AC8D8024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4C475-628B-F212-F188-4849D4C6F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63AEB-3610-514C-B385-B6C262F27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0464C-EF45-D9FC-9CBD-248F39C03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2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FEC7-5BDA-CFB2-BA57-77FC7C0E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9F466-F5BC-57FE-8EB3-5B441C7F1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4687B0-BE78-821C-BA7D-D4C5B6D3D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98534-A398-391E-BF07-8BA0E7173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0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FC34-7783-DC2B-DEDC-C68A4712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72F0B-11BE-6A43-F9F9-E32DEAE3C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B4A97-389D-1D35-D0DF-ED74824C5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9CFD3-F768-6082-A91D-A6515E495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08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86336-671D-692E-2C03-2FE197808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A3F14-645D-5F0C-4704-45F2B650A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3F7C6-9BD4-F5F5-9364-0024D5409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EF8B7-65ED-E07E-0BE0-0917CC672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89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1119-52A0-480C-0042-506F3D34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CFD3A-71CD-FB66-5901-2A58F9B84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AF03E-2279-827F-2EA1-AA7998A28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B3F0C-C296-E18C-23EB-17A375647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98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0B01-8A1E-5DF8-6CED-3872FD93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5FBD1-97DD-9436-559A-55A70DE19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28706-8A72-A753-9332-89F5E2D2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4B20A-0EC8-6148-12DD-C5935F375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08BC-DD02-E15C-B068-5554B02B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4A7AC-511F-05BD-3DD2-C31CA35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A9FF6-8C4B-F046-C433-FAD199835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40A8C-45FF-A05D-0AF4-5F5843541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33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76656" y="841248"/>
            <a:ext cx="109728" cy="4572000"/>
          </a:xfrm>
          <a:prstGeom prst="rect">
            <a:avLst/>
          </a:prstGeom>
          <a:solidFill>
            <a:srgbClr val="1A8EA8"/>
          </a:solidFill>
          <a:ln w="12700">
            <a:solidFill>
              <a:srgbClr val="1A8E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133856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脑肿瘤 MRI </a:t>
            </a:r>
            <a:r>
              <a:rPr lang="en-US" sz="2696" b="1" dirty="0" err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2696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从原始设想到数据-微调-评测最小闭环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6360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8F0F4"/>
          </a:solidFill>
          <a:ln w="12700">
            <a:solidFill>
              <a:srgbClr val="D8F0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360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8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原始设想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168504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DFF3EA"/>
          </a:solidFill>
          <a:ln w="12700">
            <a:solidFill>
              <a:srgbClr val="DFF3E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8504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收敛判断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320648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FF1DB"/>
          </a:solidFill>
          <a:ln w="12700">
            <a:solidFill>
              <a:srgbClr val="FFF1D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0648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数据主线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72792" y="4755285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EFF1FA"/>
          </a:solidFill>
          <a:ln w="12700">
            <a:solidFill>
              <a:srgbClr val="EFF1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792" y="4805577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多模态微调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807816" y="4755285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FBE7E5"/>
          </a:solidFill>
          <a:ln w="12700">
            <a:solidFill>
              <a:srgbClr val="FBE7E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7816" y="4805577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可信评测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1137392" y="62727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原始设想与问题背景</a:t>
            </a:r>
            <a:endParaRPr lang="en-US" sz="2396" dirty="0"/>
          </a:p>
        </p:txBody>
      </p:sp>
      <p:sp>
        <p:nvSpPr>
          <p:cNvPr id="6" name="Shape 4"/>
          <p:cNvSpPr/>
          <p:nvPr/>
        </p:nvSpPr>
        <p:spPr>
          <a:xfrm>
            <a:off x="786384" y="1828800"/>
            <a:ext cx="2926080" cy="2029968"/>
          </a:xfrm>
          <a:prstGeom prst="roundRect">
            <a:avLst>
              <a:gd name="adj" fmla="val 2703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3852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大规模异构数据库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905256" y="2176272"/>
            <a:ext cx="268833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术前诊疗报告 / 医学影像 / 康复随访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脱敏、样本对齐、预处理、存储、语料整理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858768" y="2651760"/>
            <a:ext cx="329184" cy="384048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828800"/>
            <a:ext cx="2926080" cy="2029968"/>
          </a:xfrm>
          <a:prstGeom prst="roundRect">
            <a:avLst>
              <a:gd name="adj" fmla="val 2703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193852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影像-文本特征抽取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434840" y="2176272"/>
            <a:ext cx="268833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/ MRI 影像特征网络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关键特征词、三元组与相似度特征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388352" y="2651760"/>
            <a:ext cx="329184" cy="384048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1828800"/>
            <a:ext cx="3566160" cy="2029968"/>
          </a:xfrm>
          <a:prstGeom prst="roundRect">
            <a:avLst>
              <a:gd name="adj" fmla="val 2703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9385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诊断-治疗-康复大模型与微调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7964424" y="2176272"/>
            <a:ext cx="332841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Qwen3-VL 的神经外科诊疗模型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 + 参数高效微调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027259" y="4803594"/>
            <a:ext cx="2572458" cy="988396"/>
          </a:xfrm>
          <a:prstGeom prst="roundRect">
            <a:avLst>
              <a:gd name="adj" fmla="val 4310"/>
            </a:avLst>
          </a:prstGeom>
          <a:solidFill>
            <a:srgbClr val="FDF2F1"/>
          </a:solidFill>
          <a:ln w="12700">
            <a:solidFill>
              <a:srgbClr val="E2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5352" y="495362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225352" y="5265482"/>
            <a:ext cx="2176272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远期蓝图，不适合直接作为第一阶段执行方案</a:t>
            </a:r>
            <a:r>
              <a:rPr lang="en-US" sz="1100" b="1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b="1" dirty="0"/>
          </a:p>
        </p:txBody>
      </p:sp>
      <p:sp>
        <p:nvSpPr>
          <p:cNvPr id="20" name="Text 18"/>
          <p:cNvSpPr/>
          <p:nvPr/>
        </p:nvSpPr>
        <p:spPr>
          <a:xfrm>
            <a:off x="786384" y="4899965"/>
            <a:ext cx="4303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原始设想的核心问题“起点过大</a:t>
            </a:r>
            <a:r>
              <a:rPr 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r>
              <a:rPr lang="zh-CN" alt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、重复造轮子、方法较老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40080" y="65562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7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先把原始设想准确摆出来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EC4B66E-F8B8-583A-A320-8793333EBC78}"/>
              </a:ext>
            </a:extLst>
          </p:cNvPr>
          <p:cNvSpPr/>
          <p:nvPr/>
        </p:nvSpPr>
        <p:spPr>
          <a:xfrm>
            <a:off x="914400" y="2648766"/>
            <a:ext cx="2688336" cy="106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构建面向神经外科疾病的大规模诊疗异构数据库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项目拟构建包括患者术前诊疗报告、医学影像、康复随访的诊疗数据库，研究数据脱敏及数据样本对齐方法，构建患者医学影像数据的预处理及存储技术，建立患者诊疗报告、术后随访等文本数据的临床语料数据库，并进行训练集</a:t>
            </a:r>
            <a:r>
              <a:rPr lang="en-US" altLang="zh-CN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测试集划分，从而为本项目的开展提供坚实的数据基础。</a:t>
            </a:r>
            <a:endParaRPr lang="en-US" sz="94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A37EA9-D754-B660-2C86-CD63075111A0}"/>
              </a:ext>
            </a:extLst>
          </p:cNvPr>
          <p:cNvSpPr txBox="1"/>
          <p:nvPr/>
        </p:nvSpPr>
        <p:spPr>
          <a:xfrm>
            <a:off x="4434840" y="2628156"/>
            <a:ext cx="2688336" cy="1104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研究影像-文本多模态信息的特征抽取方法。针对术前CT影像、MRI影像等影像学信息，构建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基于空间注意力机制的影像特征提取网络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，将病灶特征、水肿区域、病理特点映射为高维特征向量。针对诊断报告、随访报告等文本信息，建立基于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关键特征词的语义映射表，提出基于三元组特征和相似度特征的语义特征提取</a:t>
            </a:r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方法。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74715-59B6-5FD5-33BD-3158880564E3}"/>
              </a:ext>
            </a:extLst>
          </p:cNvPr>
          <p:cNvSpPr txBox="1"/>
          <p:nvPr/>
        </p:nvSpPr>
        <p:spPr>
          <a:xfrm>
            <a:off x="7955280" y="2555828"/>
            <a:ext cx="3346704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</a:rPr>
              <a:t>建立患者诊断-治疗-康复的智能大模型及微调方法。综合患者术前诊疗数据的特征，建立基于Qwen3-VL的神经外科疾病智能诊断大模型，构建基于向量距离置信度的特征权重融合方法，实现术前多模态信息的融合。以此为基础，针对神经外科疾病术前诊断、术中指导、术后康复等多下游临床任务，建立基于低秩混合矩阵的大模型微调框架，实现资源受限时的模型参数高效微调，</a:t>
            </a:r>
            <a:r>
              <a:rPr lang="zh-CN" altLang="en-US" sz="94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</a:rPr>
              <a:t>最终实现神经外科疾病的智能诊疗。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7EB5B82-F929-2DC3-4359-2A161ECCA910}"/>
              </a:ext>
            </a:extLst>
          </p:cNvPr>
          <p:cNvCxnSpPr/>
          <p:nvPr/>
        </p:nvCxnSpPr>
        <p:spPr>
          <a:xfrm flipV="1">
            <a:off x="2524715" y="2887238"/>
            <a:ext cx="0" cy="1943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00C5229-CC3F-8252-6E40-FA6AFE0F4B3F}"/>
              </a:ext>
            </a:extLst>
          </p:cNvPr>
          <p:cNvCxnSpPr>
            <a:cxnSpLocks/>
          </p:cNvCxnSpPr>
          <p:nvPr/>
        </p:nvCxnSpPr>
        <p:spPr>
          <a:xfrm flipV="1">
            <a:off x="3751575" y="3035808"/>
            <a:ext cx="683265" cy="186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84608C6-25E6-D10C-8B3C-7BD965D0129F}"/>
              </a:ext>
            </a:extLst>
          </p:cNvPr>
          <p:cNvCxnSpPr>
            <a:cxnSpLocks/>
          </p:cNvCxnSpPr>
          <p:nvPr/>
        </p:nvCxnSpPr>
        <p:spPr>
          <a:xfrm flipV="1">
            <a:off x="4631436" y="3785616"/>
            <a:ext cx="772135" cy="110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E829-1532-10B1-05EA-8B5C808E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A0A7BB-3AB9-EC05-C05F-D21EF2054C9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7541B7-069C-07FE-8207-95521845799C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5A2C32-017A-D897-876C-B51EF654402B}"/>
              </a:ext>
            </a:extLst>
          </p:cNvPr>
          <p:cNvSpPr/>
          <p:nvPr/>
        </p:nvSpPr>
        <p:spPr>
          <a:xfrm>
            <a:off x="640080" y="530352"/>
            <a:ext cx="59872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dirty="0"/>
              <a:t>MLLM </a:t>
            </a:r>
            <a:r>
              <a:rPr lang="zh-CN" altLang="en-US" sz="2396" dirty="0"/>
              <a:t>多模态大模型的近期医疗应用</a:t>
            </a:r>
            <a:endParaRPr lang="en-US" sz="2396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2CC63E3-A9B5-243C-7898-B181AC6F7024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5BF896-F93E-C710-44DF-63D8761C03CD}"/>
              </a:ext>
            </a:extLst>
          </p:cNvPr>
          <p:cNvSpPr txBox="1"/>
          <p:nvPr/>
        </p:nvSpPr>
        <p:spPr>
          <a:xfrm>
            <a:off x="581008" y="1208782"/>
            <a:ext cx="8190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自动放射学报告生成（</a:t>
            </a:r>
            <a:r>
              <a:rPr lang="en-US" altLang="zh-CN" dirty="0"/>
              <a:t>RRG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Towards a holistic framework for multimodal LLM in </a:t>
            </a:r>
            <a:r>
              <a:rPr lang="en-US" altLang="zh-CN" b="1" dirty="0"/>
              <a:t>3D brain CT radiology report generation</a:t>
            </a:r>
            <a:r>
              <a:rPr lang="zh-CN" altLang="en-US" dirty="0"/>
              <a:t>   </a:t>
            </a:r>
            <a:r>
              <a:rPr lang="en-US" altLang="zh-CN" dirty="0"/>
              <a:t>2025 Nature </a:t>
            </a:r>
            <a:r>
              <a:rPr lang="en-US" altLang="zh-CN" dirty="0" err="1"/>
              <a:t>communicaiton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80E3B82-8DBF-1540-A912-8C8F776FACC4}"/>
              </a:ext>
            </a:extLst>
          </p:cNvPr>
          <p:cNvSpPr txBox="1"/>
          <p:nvPr/>
        </p:nvSpPr>
        <p:spPr>
          <a:xfrm>
            <a:off x="483904" y="3763693"/>
            <a:ext cx="3772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核心贡献：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F73942E-3114-6ADA-18E9-AA90DBEB42B4}"/>
              </a:ext>
            </a:extLst>
          </p:cNvPr>
          <p:cNvSpPr txBox="1"/>
          <p:nvPr/>
        </p:nvSpPr>
        <p:spPr>
          <a:xfrm>
            <a:off x="483904" y="4229873"/>
            <a:ext cx="6436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 3D-BrainCT </a:t>
            </a:r>
            <a:r>
              <a:rPr lang="zh-CN" altLang="en-US" b="1" dirty="0"/>
              <a:t>数据集（包含 </a:t>
            </a:r>
            <a:r>
              <a:rPr lang="en-US" altLang="zh-CN" b="1" dirty="0"/>
              <a:t>18,885 </a:t>
            </a:r>
            <a:r>
              <a:rPr lang="zh-CN" altLang="en-US" b="1" dirty="0"/>
              <a:t>对文本</a:t>
            </a:r>
            <a:r>
              <a:rPr lang="en-US" altLang="zh-CN" b="1" dirty="0"/>
              <a:t>-</a:t>
            </a:r>
            <a:r>
              <a:rPr lang="zh-CN" altLang="en-US" b="1" dirty="0"/>
              <a:t>扫描配对样本）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04D4DBD-E6BD-A530-FC37-D04B53889C2B}"/>
              </a:ext>
            </a:extLst>
          </p:cNvPr>
          <p:cNvSpPr txBox="1"/>
          <p:nvPr/>
        </p:nvSpPr>
        <p:spPr>
          <a:xfrm>
            <a:off x="581008" y="2293276"/>
            <a:ext cx="10962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解决问题： </a:t>
            </a:r>
            <a:r>
              <a:rPr lang="en-US" altLang="zh-CN" dirty="0"/>
              <a:t>2D</a:t>
            </a:r>
            <a:r>
              <a:rPr lang="zh-CN" altLang="en-US" dirty="0"/>
              <a:t>图像</a:t>
            </a:r>
            <a:r>
              <a:rPr lang="en-US" altLang="zh-CN" dirty="0"/>
              <a:t>MLLM</a:t>
            </a:r>
            <a:r>
              <a:rPr lang="zh-CN" altLang="en-US" dirty="0"/>
              <a:t>的报告生成较为成熟， </a:t>
            </a:r>
            <a:r>
              <a:rPr lang="en-US" altLang="zh-CN" dirty="0"/>
              <a:t>3D</a:t>
            </a:r>
            <a:r>
              <a:rPr lang="zh-CN" altLang="en-US" dirty="0"/>
              <a:t>图像应用尚未充分探索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为什么？ 因为先前</a:t>
            </a:r>
            <a:r>
              <a:rPr lang="en-US" altLang="zh-CN" dirty="0"/>
              <a:t>2D</a:t>
            </a:r>
            <a:r>
              <a:rPr lang="zh-CN" altLang="en-US" dirty="0"/>
              <a:t>图像报告生成都是</a:t>
            </a:r>
            <a:r>
              <a:rPr lang="zh-CN" altLang="en-US" b="1" dirty="0"/>
              <a:t>人工挑选的截面</a:t>
            </a:r>
            <a:r>
              <a:rPr lang="zh-CN" altLang="en-US" dirty="0"/>
              <a:t>，因此 </a:t>
            </a:r>
            <a:r>
              <a:rPr lang="en-US" altLang="zh-CN" dirty="0"/>
              <a:t>MLLM </a:t>
            </a:r>
            <a:r>
              <a:rPr lang="zh-CN" altLang="en-US" dirty="0"/>
              <a:t>实际上主要是在“明确包含阳性病灶”的图像上被测试。 与真实场景存在偏差， 无法正确衡量真实的能力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672D015-059F-1D70-37FE-ECB9329B284E}"/>
              </a:ext>
            </a:extLst>
          </p:cNvPr>
          <p:cNvSpPr txBox="1"/>
          <p:nvPr/>
        </p:nvSpPr>
        <p:spPr>
          <a:xfrm>
            <a:off x="483904" y="4678175"/>
            <a:ext cx="7163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开发了</a:t>
            </a:r>
            <a:r>
              <a:rPr lang="en-US" altLang="zh-CN" b="1" dirty="0" err="1"/>
              <a:t>BrainGPT</a:t>
            </a:r>
            <a:r>
              <a:rPr lang="en-US" altLang="zh-CN" b="1" dirty="0"/>
              <a:t>, </a:t>
            </a:r>
            <a:r>
              <a:rPr lang="zh-CN" altLang="en-US" b="1" dirty="0"/>
              <a:t>一个经过</a:t>
            </a:r>
            <a:r>
              <a:rPr lang="zh-CN" altLang="en-US" dirty="0"/>
              <a:t>临床视觉指令微调（</a:t>
            </a:r>
            <a:r>
              <a:rPr lang="en-US" altLang="zh-CN" dirty="0"/>
              <a:t>CVIT</a:t>
            </a:r>
            <a:r>
              <a:rPr lang="zh-CN" altLang="en-US" dirty="0"/>
              <a:t>）的模型</a:t>
            </a:r>
            <a:endParaRPr lang="zh-CN" altLang="en-US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DC8B30E-AFA1-FB84-728B-5099DD66FA44}"/>
              </a:ext>
            </a:extLst>
          </p:cNvPr>
          <p:cNvSpPr txBox="1"/>
          <p:nvPr/>
        </p:nvSpPr>
        <p:spPr>
          <a:xfrm>
            <a:off x="483904" y="5105927"/>
            <a:ext cx="110593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提出了</a:t>
            </a:r>
            <a:r>
              <a:rPr lang="en-US" altLang="zh-CN" dirty="0"/>
              <a:t>FORTE</a:t>
            </a:r>
            <a:r>
              <a:rPr lang="zh-CN" altLang="en-US" dirty="0"/>
              <a:t>（</a:t>
            </a:r>
            <a:r>
              <a:rPr lang="en-US" altLang="zh-CN" dirty="0"/>
              <a:t>feature-oriented radiology task evaluation</a:t>
            </a:r>
            <a:r>
              <a:rPr lang="zh-CN" altLang="en-US" dirty="0"/>
              <a:t>，面向特征的放射学任务评估）标准，来评测大模型的生成内容质量。</a:t>
            </a:r>
            <a:endParaRPr lang="zh-CN" altLang="en-US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6451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F093-E1E6-B197-EDF4-417FEDB5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19F340-1A01-0167-81D6-C39288F6CEA9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4BB854-B8B7-CF16-40B4-F49F5262D816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26C35F9-6332-7AC5-EEAF-EFC5897A40AC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FDE24C-3AEE-B4D2-0D25-252EB9B8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06" y="460022"/>
            <a:ext cx="7564644" cy="322994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B64572-2AB4-C623-79D1-56A508CC8441}"/>
              </a:ext>
            </a:extLst>
          </p:cNvPr>
          <p:cNvCxnSpPr>
            <a:cxnSpLocks/>
          </p:cNvCxnSpPr>
          <p:nvPr/>
        </p:nvCxnSpPr>
        <p:spPr>
          <a:xfrm flipV="1">
            <a:off x="1238081" y="3546577"/>
            <a:ext cx="574535" cy="103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CF36E6F-35E6-BD67-A1A3-0F7E89434A23}"/>
              </a:ext>
            </a:extLst>
          </p:cNvPr>
          <p:cNvCxnSpPr>
            <a:cxnSpLocks/>
          </p:cNvCxnSpPr>
          <p:nvPr/>
        </p:nvCxnSpPr>
        <p:spPr>
          <a:xfrm flipH="1" flipV="1">
            <a:off x="1060057" y="3689970"/>
            <a:ext cx="105196" cy="887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8BE6858-408A-45AF-A9F8-FE94ABE57B98}"/>
              </a:ext>
            </a:extLst>
          </p:cNvPr>
          <p:cNvSpPr txBox="1"/>
          <p:nvPr/>
        </p:nvSpPr>
        <p:spPr>
          <a:xfrm>
            <a:off x="299406" y="4649996"/>
            <a:ext cx="2571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临床视觉指令微调（</a:t>
            </a:r>
            <a:r>
              <a:rPr lang="en-US" altLang="zh-CN" sz="1600" dirty="0"/>
              <a:t>CVIT</a:t>
            </a:r>
            <a:r>
              <a:rPr lang="zh-CN" altLang="en-US" dirty="0"/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EC44A2-25D1-0B97-6384-C30AC43B88A2}"/>
              </a:ext>
            </a:extLst>
          </p:cNvPr>
          <p:cNvSpPr txBox="1"/>
          <p:nvPr/>
        </p:nvSpPr>
        <p:spPr>
          <a:xfrm>
            <a:off x="2943481" y="3867089"/>
            <a:ext cx="84734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/>
              <a:t>常规视觉指令微调（</a:t>
            </a:r>
            <a:r>
              <a:rPr lang="en-US" altLang="zh-CN" sz="1400" b="1" dirty="0"/>
              <a:t>RVIT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>
              <a:buNone/>
            </a:pPr>
            <a:endParaRPr lang="zh-CN" altLang="en-US" sz="1400" b="1" dirty="0"/>
          </a:p>
          <a:p>
            <a:pPr>
              <a:buFont typeface="+mj-lt"/>
              <a:buAutoNum type="arabicPeriod"/>
            </a:pPr>
            <a:r>
              <a:rPr lang="zh-CN" altLang="en-US" sz="1400" b="1" dirty="0"/>
              <a:t>普通指令（</a:t>
            </a:r>
            <a:r>
              <a:rPr lang="en-US" altLang="zh-CN" sz="1400" b="1" dirty="0"/>
              <a:t>plain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：向模型传达其作为放射学助手的角色； </a:t>
            </a:r>
          </a:p>
          <a:p>
            <a:pPr>
              <a:buFont typeface="+mj-lt"/>
              <a:buAutoNum type="arabicPeriod"/>
            </a:pPr>
            <a:r>
              <a:rPr lang="zh-CN" altLang="en-US" sz="1400" b="1" dirty="0"/>
              <a:t>上下文示例指令（</a:t>
            </a:r>
            <a:r>
              <a:rPr lang="en-US" altLang="zh-CN" sz="1400" b="1" dirty="0"/>
              <a:t>in-context example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 </a:t>
            </a:r>
            <a:r>
              <a:rPr lang="en-US" altLang="zh-CN" sz="1400" b="1" dirty="0"/>
              <a:t>3-shot </a:t>
            </a:r>
            <a:r>
              <a:rPr lang="zh-CN" altLang="en-US" sz="1400" b="1" dirty="0"/>
              <a:t>示例</a:t>
            </a:r>
            <a:r>
              <a:rPr lang="zh-CN" altLang="en-US" sz="1400" dirty="0"/>
              <a:t>。 </a:t>
            </a:r>
          </a:p>
          <a:p>
            <a:pPr>
              <a:buNone/>
            </a:pPr>
            <a:r>
              <a:rPr lang="zh-CN" altLang="en-US" sz="1400" b="1" dirty="0"/>
              <a:t>临床视觉指令微调（</a:t>
            </a:r>
            <a:r>
              <a:rPr lang="en-US" altLang="zh-CN" sz="1400" b="1" dirty="0"/>
              <a:t>CVIT</a:t>
            </a:r>
            <a:r>
              <a:rPr lang="zh-CN" altLang="en-US" sz="1400" b="1" dirty="0"/>
              <a:t>）</a:t>
            </a:r>
          </a:p>
          <a:p>
            <a:pPr>
              <a:buFont typeface="+mj-lt"/>
              <a:buAutoNum type="arabicPeriod" startAt="3"/>
            </a:pPr>
            <a:r>
              <a:rPr lang="zh-CN" altLang="en-US" sz="1400" b="1" dirty="0"/>
              <a:t>模板指令（</a:t>
            </a:r>
            <a:r>
              <a:rPr lang="en-US" altLang="zh-CN" sz="1400" b="1" dirty="0"/>
              <a:t>template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</a:t>
            </a:r>
            <a:r>
              <a:rPr lang="zh-CN" altLang="en-US" sz="1400" b="1" dirty="0"/>
              <a:t>结构化、临床定义明确的问答模板</a:t>
            </a:r>
            <a:r>
              <a:rPr lang="zh-CN" altLang="en-US" sz="1400" dirty="0"/>
              <a:t>； </a:t>
            </a:r>
          </a:p>
          <a:p>
            <a:pPr>
              <a:buFont typeface="+mj-lt"/>
              <a:buAutoNum type="arabicPeriod" startAt="3"/>
            </a:pPr>
            <a:r>
              <a:rPr lang="zh-CN" altLang="en-US" sz="1400" b="1" dirty="0"/>
              <a:t>关键词指令（</a:t>
            </a:r>
            <a:r>
              <a:rPr lang="en-US" altLang="zh-CN" sz="1400" b="1" dirty="0"/>
              <a:t>keyword instruction</a:t>
            </a:r>
            <a:r>
              <a:rPr lang="zh-CN" altLang="en-US" sz="1400" b="1" dirty="0"/>
              <a:t>）</a:t>
            </a:r>
            <a:r>
              <a:rPr lang="zh-CN" altLang="en-US" sz="1400" dirty="0"/>
              <a:t>：在普通指令基础上加入</a:t>
            </a:r>
            <a:r>
              <a:rPr lang="zh-CN" altLang="en-US" sz="1400" b="1" dirty="0"/>
              <a:t>聚焦关键词的分类指导</a:t>
            </a:r>
            <a:r>
              <a:rPr lang="zh-CN" altLang="en-US" sz="1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325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E59B-E007-33F3-8794-EDCF683A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D4504D-6DF3-4BCE-4A55-CB5712A6D80D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AC3B74E-3418-5DA3-C267-4E07B374FFF8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FC3EC49-BE87-1412-515C-CC56F50304C0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7774B1A5-6C9A-3F98-1DC1-D95AE2E8C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63" y="5223225"/>
            <a:ext cx="9144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评测时，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他们做了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pairing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，把多句组成的段落分解到更细的语义粒度。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具体配对时，报告会先用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2"/>
              </a:rPr>
              <a:t>SentenceTransformer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的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all-mpnet-base-v2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做 embedding，再进行 pairing 和 scoring，这个过程受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BERTScore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启发，依赖 contextual embeddings 和 cosine similarity。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0C8AC9-592B-A4CA-2168-137424607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19"/>
            <a:ext cx="9144000" cy="47650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029D92-C444-D344-D610-19E602F7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13385"/>
            <a:ext cx="12192000" cy="423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0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B214-4EA7-63D1-3C77-61A0AF04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3364C9-050B-B587-69F8-0A1B2DBBAB09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03A98D-B2F6-D08F-E576-7B7F2EC8D351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B737AE5-C96C-34DC-B6CF-A9E7129759B5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E50BC06-3A4E-A785-C4E5-852783E6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63" y="3588065"/>
            <a:ext cx="9144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>
                <a:latin typeface="Arial" panose="020B0604020202020204" pitchFamily="34" charset="0"/>
              </a:rPr>
              <a:t>图灵测试的验证表格</a:t>
            </a:r>
            <a:endParaRPr lang="en-US" altLang="zh-CN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>
                <a:latin typeface="Arial" panose="020B0604020202020204" pitchFamily="34" charset="0"/>
              </a:rPr>
              <a:t>两个阶段</a:t>
            </a:r>
            <a:endParaRPr lang="en-US" altLang="zh-CN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两份报告， 回答三个问题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dirty="0">
                <a:latin typeface="Arial" panose="020B0604020202020204" pitchFamily="34" charset="0"/>
              </a:rPr>
              <a:t>2.</a:t>
            </a:r>
            <a:r>
              <a:rPr lang="zh-CN" altLang="en-US" dirty="0">
                <a:latin typeface="Arial" panose="020B0604020202020204" pitchFamily="34" charset="0"/>
              </a:rPr>
              <a:t>两份报告</a:t>
            </a:r>
            <a:r>
              <a:rPr lang="en-US" altLang="zh-CN" dirty="0">
                <a:latin typeface="Arial" panose="020B0604020202020204" pitchFamily="34" charset="0"/>
              </a:rPr>
              <a:t>+</a:t>
            </a:r>
            <a:r>
              <a:rPr lang="zh-CN" altLang="en-US" dirty="0">
                <a:latin typeface="Arial" panose="020B0604020202020204" pitchFamily="34" charset="0"/>
              </a:rPr>
              <a:t>图像，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F1BF61-D196-6A85-02C0-5E3B1E5C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45131"/>
            <a:ext cx="8403771" cy="291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5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主干技术路线总览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TRUNK ROUTE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1155003" y="1389888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4731" y="149961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1298259" y="2242075"/>
            <a:ext cx="149961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MRI / 报告 / 病理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公开数据起步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7227" y="1975104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411" y="1389888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7FA">
              <a:alpha val="94000"/>
            </a:srgbClr>
          </a:solidFill>
          <a:ln w="12700">
            <a:solidFill>
              <a:srgbClr val="EAF7F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139" y="149961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数据标准化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404427" y="2149907"/>
            <a:ext cx="149961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统一目录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统一病例键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统一挂接关系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068635" y="1975104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7819" y="1389888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7FA">
              <a:alpha val="94000"/>
            </a:srgbClr>
          </a:solidFill>
          <a:ln w="12700">
            <a:solidFill>
              <a:srgbClr val="EAF7F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7547" y="149961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统一样本层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592891" y="2148870"/>
            <a:ext cx="149961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结构化字段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JSONL 样本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/ val / 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90043" y="1975104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9227" y="1389888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7FA">
              <a:alpha val="94000"/>
            </a:srgbClr>
          </a:solidFill>
          <a:ln w="12700">
            <a:solidFill>
              <a:srgbClr val="EAF7F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8955" y="149961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ms-swift 多模态微调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647243" y="2118436"/>
            <a:ext cx="149961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encoder 接入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注入 + PEFT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任务适配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11451" y="1975104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45435" y="1773936"/>
            <a:ext cx="1118805" cy="877824"/>
          </a:xfrm>
          <a:prstGeom prst="roundRect">
            <a:avLst>
              <a:gd name="adj" fmla="val 3488"/>
            </a:avLst>
          </a:prstGeom>
          <a:solidFill>
            <a:srgbClr val="EAF7FA">
              <a:alpha val="94000"/>
            </a:srgbClr>
          </a:solidFill>
          <a:ln w="12700">
            <a:solidFill>
              <a:srgbClr val="EAF7FA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0363" y="208483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3918474-AD79-B285-9484-65439B7E4BFA}"/>
              </a:ext>
            </a:extLst>
          </p:cNvPr>
          <p:cNvSpPr/>
          <p:nvPr/>
        </p:nvSpPr>
        <p:spPr>
          <a:xfrm>
            <a:off x="640080" y="3370279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主干技术路线总览</a:t>
            </a:r>
            <a:endParaRPr lang="en-US" sz="239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87434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落地节奏与近期产出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EXECUTION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841248" y="247503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0304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接数据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1005840" y="289565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TextBraTS / BraTS，整理原始影像与文本来源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840790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4176" y="247503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FF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60304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做结构化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3858768" y="289565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冻结字段字典，产出统一结构化结果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2840790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7104" y="247503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60304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生成统一样本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6711696" y="289565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把病例转成 finetune-ready 的 JSONL 输入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43416" y="2840790"/>
            <a:ext cx="256032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247503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B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6336" y="2603046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 err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跑评测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9564624" y="2895654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在固定切分与固定 benchmark </a:t>
            </a:r>
            <a:r>
              <a:rPr lang="en-US" sz="100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下形成结果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51067" y="4423430"/>
            <a:ext cx="595460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</a:t>
            </a:r>
            <a:r>
              <a:rPr lang="zh-CN" altLang="en-US" sz="4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r>
              <a:rPr lang="en-US" altLang="zh-CN" sz="400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infra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模型路线：以 ms-swift 为主干的多模态微调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ROUTE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13232" y="1975104"/>
            <a:ext cx="1700784" cy="1133856"/>
          </a:xfrm>
          <a:prstGeom prst="roundRect">
            <a:avLst>
              <a:gd name="adj" fmla="val 4839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579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MRI slice pack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822960" y="2517078"/>
            <a:ext cx="1463040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三视图 / 切片包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作为当前图像输入形态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542032" y="2359152"/>
            <a:ext cx="256032" cy="347472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9504" y="1975104"/>
            <a:ext cx="1700784" cy="1133856"/>
          </a:xfrm>
          <a:prstGeom prst="roundRect">
            <a:avLst>
              <a:gd name="adj" fmla="val 4839"/>
            </a:avLst>
          </a:prstGeom>
          <a:solidFill>
            <a:srgbClr val="DFF3EA">
              <a:alpha val="94000"/>
            </a:srgbClr>
          </a:solidFill>
          <a:ln w="12700">
            <a:solidFill>
              <a:srgbClr val="DFF3E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1579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pretrained 图像 encoder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017520" y="2551566"/>
            <a:ext cx="1463040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输出图像特征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image embedding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718304" y="2359152"/>
            <a:ext cx="256032" cy="347472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5776" y="1975104"/>
            <a:ext cx="1700784" cy="1133856"/>
          </a:xfrm>
          <a:prstGeom prst="roundRect">
            <a:avLst>
              <a:gd name="adj" fmla="val 4839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1579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注入 / projector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175504" y="2583235"/>
            <a:ext cx="1463040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把图像特征映射到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语言模型可消费空间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94576" y="2359152"/>
            <a:ext cx="256032" cy="347472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42048" y="1975104"/>
            <a:ext cx="1792224" cy="1133856"/>
          </a:xfrm>
          <a:prstGeom prst="roundRect">
            <a:avLst>
              <a:gd name="adj" fmla="val 4839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157984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 + ms-swift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351776" y="2550889"/>
            <a:ext cx="1554480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PEFT / LoRA / QLoRA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组织多模态微调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96112" y="3730752"/>
            <a:ext cx="8156448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986784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当前推荐的主干是：Qwen3-VL 基座 + ms-swift + PEFT/LoRA/QLoRA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133856" y="4407408"/>
            <a:ext cx="7662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理由：工程链更短</a:t>
            </a:r>
            <a:r>
              <a:rPr lang="zh-CN" altLang="en-US" sz="105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框架成熟</a:t>
            </a:r>
            <a:r>
              <a:rPr lang="en-US" sz="105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适合有限资源下先形成第一版结果</a:t>
            </a:r>
            <a:r>
              <a:rPr lang="en-US" sz="105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72016" y="3877056"/>
            <a:ext cx="1828800" cy="1060704"/>
          </a:xfrm>
          <a:prstGeom prst="roundRect">
            <a:avLst>
              <a:gd name="adj" fmla="val 4310"/>
            </a:avLst>
          </a:prstGeom>
          <a:solidFill>
            <a:srgbClr val="EAF7FA"/>
          </a:solidFill>
          <a:ln w="12700">
            <a:solidFill>
              <a:srgbClr val="C8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4114800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ms-swift 为什么适合当前主干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381744" y="4510622"/>
            <a:ext cx="1609344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它更适合快速组织多模态微调流程，减少第一阶段工程摩擦。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当前阶段目标 vs 最终目标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LAYERS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12280" y="2949685"/>
            <a:ext cx="4828032" cy="126608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C7DDE4"/>
            </a:solidFill>
            <a:prstDash val="solid"/>
          </a:ln>
          <a:effectLst>
            <a:outerShdw blurRad="12700" dist="50800" dir="2700000" algn="bl" rotWithShape="0">
              <a:srgbClr val="B7C8C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58584" y="305941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5" b="1" dirty="0">
                <a:solidFill>
                  <a:srgbClr val="1A8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最终目标｜多模态微调主线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6967728" y="3450755"/>
            <a:ext cx="4517136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最终要做的，仍然是服务神经外科多任务的多模态微调路线。可以进一步研究外接 pretrained 图像 encoder、图像 embedding 注入、参数高效微调，以及更完整的多模态融合机制。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57900" y="3310776"/>
            <a:ext cx="512064" cy="548640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118819"/>
            <a:ext cx="4864608" cy="2534101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C7DDE4"/>
            </a:solidFill>
            <a:prstDash val="solid"/>
          </a:ln>
          <a:effectLst>
            <a:outerShdw blurRad="12700" dist="50800" dir="2700000" algn="bl" rotWithShape="0">
              <a:srgbClr val="B7C8C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2228547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5" b="1" dirty="0">
                <a:solidFill>
                  <a:srgbClr val="1A8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当前阶段目标｜先打通最小闭环</a:t>
            </a:r>
            <a:endParaRPr lang="en-US" sz="1375" dirty="0"/>
          </a:p>
        </p:txBody>
      </p:sp>
      <p:sp>
        <p:nvSpPr>
          <p:cNvPr id="12" name="Text 10"/>
          <p:cNvSpPr/>
          <p:nvPr/>
        </p:nvSpPr>
        <p:spPr>
          <a:xfrm>
            <a:off x="896112" y="2521155"/>
            <a:ext cx="4553712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当前阶段不是一步把这些都做满，而是先在脑</a:t>
            </a:r>
            <a:r>
              <a:rPr lang="zh-CN" altLang="en-US" sz="10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出血</a:t>
            </a:r>
            <a:r>
              <a:rPr lang="en-US" sz="108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场景下，把“数据组织</a:t>
            </a:r>
            <a:r>
              <a:rPr lang="en-US" sz="10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-&gt; 统一样本 -&gt; 初版多模态微调 -&gt; 可信评测”稳定跑通，形成可比较的第一版结果。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414407" y="3493656"/>
            <a:ext cx="3182112" cy="819399"/>
          </a:xfrm>
          <a:prstGeom prst="roundRect">
            <a:avLst>
              <a:gd name="adj" fmla="val 4310"/>
            </a:avLst>
          </a:prstGeom>
          <a:solidFill>
            <a:srgbClr val="F5F6FD"/>
          </a:solidFill>
          <a:ln w="12700">
            <a:solidFill>
              <a:srgbClr val="D5D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135" y="3585096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后续增强方向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1524135" y="3851834"/>
            <a:ext cx="2962656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强化学习/偏好优化可以作为下一阶段增强，但不进入当前主流程。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165C-7CF3-B83B-7806-AA29F8E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DFEE91-5608-C777-DA86-44A757D9ADD0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ADBFB33-BB06-D897-5713-808D532A2AEC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CE2A26-B13A-3ACB-0374-4A4185674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621" y="550632"/>
            <a:ext cx="3932729" cy="2208041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4D21A17B-F3C1-C48B-1B80-EB53BAB674EB}"/>
              </a:ext>
            </a:extLst>
          </p:cNvPr>
          <p:cNvSpPr/>
          <p:nvPr/>
        </p:nvSpPr>
        <p:spPr>
          <a:xfrm>
            <a:off x="565312" y="2873458"/>
            <a:ext cx="4985826" cy="101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dirty="0"/>
              <a:t>🍲 </a:t>
            </a:r>
            <a:r>
              <a:rPr lang="en-US" altLang="zh-CN" sz="1200" b="1" dirty="0" err="1"/>
              <a:t>ms</a:t>
            </a:r>
            <a:r>
              <a:rPr lang="en-US" altLang="zh-CN" sz="1200" b="1" dirty="0"/>
              <a:t>-swift</a:t>
            </a:r>
            <a:r>
              <a:rPr lang="zh-CN" altLang="en-US" sz="1200" dirty="0"/>
              <a:t>是模型与多模态大模型微调部署框架，现已支持</a:t>
            </a:r>
            <a:r>
              <a:rPr lang="en-US" altLang="zh-CN" sz="1200" dirty="0"/>
              <a:t>600+</a:t>
            </a:r>
            <a:r>
              <a:rPr lang="zh-CN" altLang="en-US" sz="1200" dirty="0"/>
              <a:t>纯文本大模型与</a:t>
            </a:r>
            <a:r>
              <a:rPr lang="en-US" altLang="zh-CN" sz="1200" dirty="0"/>
              <a:t>400+</a:t>
            </a:r>
            <a:r>
              <a:rPr lang="zh-CN" altLang="en-US" sz="1200" dirty="0"/>
              <a:t>多模态大模型的训练（预训练、微调、人类对齐）、推理、评测、量化与部署。其中大模型包括：</a:t>
            </a:r>
            <a:r>
              <a:rPr lang="en-US" altLang="zh-CN" sz="1200" dirty="0"/>
              <a:t>Qwen3</a:t>
            </a:r>
            <a:r>
              <a:rPr lang="zh-CN" altLang="en-US" sz="1200" dirty="0"/>
              <a:t>、</a:t>
            </a:r>
            <a:r>
              <a:rPr lang="en-US" altLang="zh-CN" sz="1200" dirty="0"/>
              <a:t>Qwen3.5</a:t>
            </a:r>
            <a:r>
              <a:rPr lang="zh-CN" altLang="en-US" sz="1200" dirty="0"/>
              <a:t>、</a:t>
            </a:r>
            <a:r>
              <a:rPr lang="en-US" altLang="zh-CN" sz="1200" dirty="0"/>
              <a:t>InternLM3</a:t>
            </a:r>
            <a:r>
              <a:rPr lang="zh-CN" altLang="en-US" sz="1200" dirty="0"/>
              <a:t>、</a:t>
            </a:r>
            <a:r>
              <a:rPr lang="en-US" altLang="zh-CN" sz="1200" dirty="0"/>
              <a:t>GLM4.5</a:t>
            </a:r>
            <a:r>
              <a:rPr lang="zh-CN" altLang="en-US" sz="1200" dirty="0"/>
              <a:t>、</a:t>
            </a:r>
            <a:r>
              <a:rPr lang="en-US" altLang="zh-CN" sz="1200" dirty="0"/>
              <a:t>Mistral</a:t>
            </a:r>
            <a:r>
              <a:rPr lang="zh-CN" altLang="en-US" sz="1200" dirty="0"/>
              <a:t>、</a:t>
            </a:r>
            <a:r>
              <a:rPr lang="en-US" altLang="zh-CN" sz="1200" dirty="0"/>
              <a:t>DeepSeek-R1</a:t>
            </a:r>
            <a:r>
              <a:rPr lang="zh-CN" altLang="en-US" sz="1200" dirty="0"/>
              <a:t>、</a:t>
            </a:r>
            <a:r>
              <a:rPr lang="en-US" altLang="zh-CN" sz="1200" dirty="0"/>
              <a:t>Llama4</a:t>
            </a:r>
            <a:r>
              <a:rPr lang="zh-CN" altLang="en-US" sz="1200" dirty="0"/>
              <a:t>等模型，多模态大模型包括：</a:t>
            </a:r>
            <a:r>
              <a:rPr lang="en-US" altLang="zh-CN" sz="1200" b="1" dirty="0">
                <a:solidFill>
                  <a:srgbClr val="FF0000"/>
                </a:solidFill>
              </a:rPr>
              <a:t>Qwen3-VL</a:t>
            </a:r>
            <a:r>
              <a:rPr lang="zh-CN" altLang="en-US" sz="1200" dirty="0"/>
              <a:t>、</a:t>
            </a:r>
            <a:r>
              <a:rPr lang="en-US" altLang="zh-CN" sz="1200" dirty="0"/>
              <a:t>Qwen3-Omni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Llava</a:t>
            </a:r>
            <a:r>
              <a:rPr lang="zh-CN" altLang="en-US" sz="1200" dirty="0"/>
              <a:t>、</a:t>
            </a:r>
            <a:r>
              <a:rPr lang="en-US" altLang="zh-CN" sz="1200" dirty="0"/>
              <a:t>InternVL3.5</a:t>
            </a:r>
            <a:r>
              <a:rPr lang="zh-CN" altLang="en-US" sz="1200" dirty="0"/>
              <a:t>、</a:t>
            </a:r>
            <a:r>
              <a:rPr lang="en-US" altLang="zh-CN" sz="1200" dirty="0"/>
              <a:t>MiniCPM-V-4</a:t>
            </a:r>
            <a:r>
              <a:rPr lang="zh-CN" altLang="en-US" sz="1200" dirty="0"/>
              <a:t>、</a:t>
            </a:r>
            <a:r>
              <a:rPr lang="en-US" altLang="zh-CN" sz="1200" dirty="0"/>
              <a:t>Ovis2.5</a:t>
            </a:r>
            <a:r>
              <a:rPr lang="zh-CN" altLang="en-US" sz="1200" dirty="0"/>
              <a:t>、</a:t>
            </a:r>
            <a:r>
              <a:rPr lang="en-US" altLang="zh-CN" sz="1200" dirty="0"/>
              <a:t>GLM4.5-V</a:t>
            </a:r>
            <a:r>
              <a:rPr lang="zh-CN" altLang="en-US" sz="1200" dirty="0"/>
              <a:t>、</a:t>
            </a:r>
            <a:r>
              <a:rPr lang="en-US" altLang="zh-CN" sz="1200" dirty="0"/>
              <a:t>DeepSeek-VL2</a:t>
            </a:r>
            <a:r>
              <a:rPr lang="zh-CN" altLang="en-US" sz="1200" dirty="0"/>
              <a:t>等模型。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26557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数据如何构建：从病例到多模态训练样本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TO SAMPLE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865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病例输入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59105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MRI 体数据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影像报告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病理 / 随访文本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670048" y="2121408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54096" y="175564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DFF3EA">
              <a:alpha val="94000"/>
            </a:srgbClr>
          </a:solidFill>
          <a:ln w="12700">
            <a:solidFill>
              <a:srgbClr val="DFF3E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865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影像标准化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172968" y="2103120"/>
            <a:ext cx="159105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统一格式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裁剪 / 重采样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 pack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065776" y="2121408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9824" y="175564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865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报告结构化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568696" y="2103120"/>
            <a:ext cx="159105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病灶位置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/ 分级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随访结果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461504" y="2121408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1755648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86537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JSONL 样本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964424" y="2103120"/>
            <a:ext cx="159105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target_struct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857232" y="2121408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1755648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FBE7E5">
              <a:alpha val="94000"/>
            </a:srgbClr>
          </a:solidFill>
          <a:ln w="12700">
            <a:solidFill>
              <a:srgbClr val="FBE7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9568" y="186537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0268712" y="2103120"/>
            <a:ext cx="113385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patient 级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/ val / test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32688" y="3675888"/>
            <a:ext cx="8138160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C7D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913632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统一样本层只保留 3 类：微调样本（主）、检索样本（辅）、模板摘要样本（可选）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920240" y="4352544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FF3EA"/>
          </a:solidFill>
          <a:ln w="12700">
            <a:solidFill>
              <a:srgbClr val="DFF3E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4402836"/>
            <a:ext cx="1481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微调样本（主）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3913632" y="4352544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D8F0F4"/>
          </a:solidFill>
          <a:ln w="12700">
            <a:solidFill>
              <a:srgbClr val="D8F0F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4402836"/>
            <a:ext cx="14813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8E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检索样本（辅）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870448" y="4352544"/>
            <a:ext cx="1883664" cy="292608"/>
          </a:xfrm>
          <a:prstGeom prst="roundRect">
            <a:avLst>
              <a:gd name="adj" fmla="val 25000"/>
            </a:avLst>
          </a:prstGeom>
          <a:solidFill>
            <a:srgbClr val="FFF1DB"/>
          </a:solidFill>
          <a:ln w="12700">
            <a:solidFill>
              <a:srgbClr val="FFF1D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4402836"/>
            <a:ext cx="1883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模板摘要样本（可选）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345168" y="3547872"/>
            <a:ext cx="1901952" cy="804672"/>
          </a:xfrm>
          <a:prstGeom prst="roundRect">
            <a:avLst>
              <a:gd name="adj" fmla="val 4310"/>
            </a:avLst>
          </a:prstGeom>
          <a:solidFill>
            <a:srgbClr val="EAF7FA"/>
          </a:solidFill>
          <a:ln w="12700">
            <a:solidFill>
              <a:srgbClr val="C8DC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54896" y="363931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结构化字段为什么重要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9454896" y="3858768"/>
            <a:ext cx="1682496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它是影像、文本、训练样本和评测指标之间的中间接口。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345168" y="4754880"/>
            <a:ext cx="1901952" cy="713232"/>
          </a:xfrm>
          <a:prstGeom prst="roundRect">
            <a:avLst>
              <a:gd name="adj" fmla="val 4310"/>
            </a:avLst>
          </a:prstGeom>
          <a:solidFill>
            <a:srgbClr val="EDF8F4"/>
          </a:solidFill>
          <a:ln w="12700">
            <a:solidFill>
              <a:srgbClr val="CBE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54896" y="48463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样本层为什么关键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9454896" y="5065776"/>
            <a:ext cx="1682496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因为它直接决定训练</a:t>
            </a:r>
            <a:r>
              <a:rPr lang="zh-CN" alt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数据能否</a:t>
            </a:r>
            <a:r>
              <a:rPr lang="en-US" sz="88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</a:t>
            </a:r>
            <a:r>
              <a:rPr lang="zh-CN" alt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9146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96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数据如何构建：从原始数据到统一数据层</a:t>
            </a:r>
            <a:endParaRPr lang="en-US" sz="2396" dirty="0"/>
          </a:p>
        </p:txBody>
      </p:sp>
      <p:sp>
        <p:nvSpPr>
          <p:cNvPr id="5" name="Text 3"/>
          <p:cNvSpPr/>
          <p:nvPr/>
        </p:nvSpPr>
        <p:spPr>
          <a:xfrm>
            <a:off x="9162288" y="1454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LAYERS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976385" y="1894183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 err="1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统一目录、病例键、影像与文本的挂接关系</a:t>
            </a:r>
            <a:r>
              <a:rPr lang="en-US" sz="128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914400" y="2570192"/>
            <a:ext cx="7498080" cy="457200"/>
          </a:xfrm>
          <a:prstGeom prst="roundRect">
            <a:avLst>
              <a:gd name="adj" fmla="val 8000"/>
            </a:avLst>
          </a:prstGeom>
          <a:solidFill>
            <a:srgbClr val="E7F6FA"/>
          </a:solidFill>
          <a:ln w="12700">
            <a:solidFill>
              <a:srgbClr val="C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698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2103120" y="2698208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原始影像、原始报告、原始来源记录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228560"/>
            <a:ext cx="7498080" cy="457200"/>
          </a:xfrm>
          <a:prstGeom prst="roundRect">
            <a:avLst>
              <a:gd name="adj" fmla="val 8000"/>
            </a:avLst>
          </a:prstGeom>
          <a:solidFill>
            <a:srgbClr val="EDF8F6"/>
          </a:solidFill>
          <a:ln w="12700">
            <a:solidFill>
              <a:srgbClr val="C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56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103120" y="3356576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标准化影像、slice pack、清洗文本、结构化报告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886928"/>
            <a:ext cx="7498080" cy="457200"/>
          </a:xfrm>
          <a:prstGeom prst="roundRect">
            <a:avLst>
              <a:gd name="adj" fmla="val 8000"/>
            </a:avLst>
          </a:prstGeom>
          <a:solidFill>
            <a:srgbClr val="FFF4E7"/>
          </a:solidFill>
          <a:ln w="12700">
            <a:solidFill>
              <a:srgbClr val="C9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014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2103120" y="4014944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patients / studies / series / split 清单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545296"/>
            <a:ext cx="7498080" cy="457200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 w="12700">
            <a:solidFill>
              <a:srgbClr val="C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6733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2103120" y="4673312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finetune / retrieval / summary 的统一 JSONL 样本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5203664"/>
            <a:ext cx="7498080" cy="457200"/>
          </a:xfrm>
          <a:prstGeom prst="roundRect">
            <a:avLst>
              <a:gd name="adj" fmla="val 8000"/>
            </a:avLst>
          </a:prstGeom>
          <a:solidFill>
            <a:srgbClr val="EEF1F9"/>
          </a:solidFill>
          <a:ln w="12700">
            <a:solidFill>
              <a:srgbClr val="C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53316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103120" y="5331680"/>
            <a:ext cx="5925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r>
              <a:rPr lang="zh-CN" alt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r>
              <a:rPr lang="en-US" sz="100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与公开</a:t>
            </a:r>
            <a:r>
              <a:rPr 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benchmark 的</a:t>
            </a:r>
            <a:r>
              <a:rPr lang="zh-CN" altLang="en-US" sz="100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</a:t>
            </a:r>
            <a:r>
              <a:rPr lang="en-US" sz="100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87968" y="2606768"/>
            <a:ext cx="2176272" cy="749808"/>
          </a:xfrm>
          <a:prstGeom prst="roundRect">
            <a:avLst>
              <a:gd name="adj" fmla="val 4310"/>
            </a:avLst>
          </a:prstGeom>
          <a:solidFill>
            <a:srgbClr val="FDF2F1"/>
          </a:solidFill>
          <a:ln w="12700">
            <a:solidFill>
              <a:srgbClr val="E3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7696" y="269820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不是先做平台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997696" y="2917664"/>
            <a:ext cx="1956816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这一页讲的是数据规范，不是要先做一套复杂数据库平台。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900160" y="3530804"/>
            <a:ext cx="2176272" cy="749808"/>
          </a:xfrm>
          <a:prstGeom prst="roundRect">
            <a:avLst>
              <a:gd name="adj" fmla="val 4310"/>
            </a:avLst>
          </a:prstGeom>
          <a:solidFill>
            <a:srgbClr val="EAF7FA"/>
          </a:solidFill>
          <a:ln w="12700">
            <a:solidFill>
              <a:srgbClr val="C8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9888" y="3622243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009888" y="3841699"/>
            <a:ext cx="1956816" cy="273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先冻结规范和追溯关系，让后面的样本生成与评测可以复现。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900160" y="4513339"/>
            <a:ext cx="2176272" cy="718250"/>
          </a:xfrm>
          <a:prstGeom prst="roundRect">
            <a:avLst>
              <a:gd name="adj" fmla="val 4310"/>
            </a:avLst>
          </a:prstGeom>
          <a:solidFill>
            <a:srgbClr val="EDF8F4"/>
          </a:solidFill>
          <a:ln w="12700">
            <a:solidFill>
              <a:srgbClr val="CBE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9888" y="4604778"/>
            <a:ext cx="1956816" cy="16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34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直接价值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9009888" y="4824234"/>
            <a:ext cx="1956816" cy="2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</a:t>
            </a:r>
            <a:r>
              <a:rPr lang="en-US" sz="880" dirty="0" err="1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训练输入和评测输入</a:t>
            </a:r>
            <a:r>
              <a:rPr lang="zh-CN" altLang="en-US" sz="88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 为后续迭代奠定基础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5207-581C-3D81-7441-74DAFA4D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2">
            <a:extLst>
              <a:ext uri="{FF2B5EF4-FFF2-40B4-BE49-F238E27FC236}">
                <a16:creationId xmlns:a16="http://schemas.microsoft.com/office/drawing/2014/main" id="{07B2D586-AF95-11C4-E813-AE3DB063D546}"/>
              </a:ext>
            </a:extLst>
          </p:cNvPr>
          <p:cNvSpPr/>
          <p:nvPr/>
        </p:nvSpPr>
        <p:spPr>
          <a:xfrm>
            <a:off x="7954409" y="1658138"/>
            <a:ext cx="3880975" cy="937645"/>
          </a:xfrm>
          <a:prstGeom prst="roundRect">
            <a:avLst>
              <a:gd name="adj" fmla="val 5455"/>
            </a:avLst>
          </a:prstGeom>
          <a:solidFill>
            <a:srgbClr val="FFF1DB">
              <a:alpha val="94000"/>
            </a:srgbClr>
          </a:solidFill>
          <a:ln w="12700">
            <a:solidFill>
              <a:srgbClr val="FFF1DB">
                <a:alpha val="85000"/>
              </a:srgbClr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9FA2CB6-276B-5D67-A76C-09D2AB90E924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86DCFE-42BE-0258-05E0-89B82CD30A83}"/>
              </a:ext>
            </a:extLst>
          </p:cNvPr>
          <p:cNvSpPr/>
          <p:nvPr/>
        </p:nvSpPr>
        <p:spPr>
          <a:xfrm>
            <a:off x="306324" y="33267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96" dirty="0"/>
              <a:t>脑出血诊断流程</a:t>
            </a:r>
            <a:endParaRPr lang="en-US" sz="2396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397E3EC-E649-A882-3919-6FB8E842A403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2D9508EC-74F6-7465-E02E-AB9F706972A9}"/>
              </a:ext>
            </a:extLst>
          </p:cNvPr>
          <p:cNvSpPr/>
          <p:nvPr/>
        </p:nvSpPr>
        <p:spPr>
          <a:xfrm>
            <a:off x="283464" y="1085096"/>
            <a:ext cx="2076559" cy="2219815"/>
          </a:xfrm>
          <a:prstGeom prst="roundRect">
            <a:avLst>
              <a:gd name="adj" fmla="val 5455"/>
            </a:avLst>
          </a:prstGeom>
          <a:solidFill>
            <a:srgbClr val="D8F0F4">
              <a:alpha val="94000"/>
            </a:srgbClr>
          </a:solidFill>
          <a:ln w="12700">
            <a:solidFill>
              <a:srgbClr val="D8F0F4">
                <a:alpha val="85000"/>
              </a:srgbClr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A6A74A17-F860-8514-BF53-3EA1375592C9}"/>
              </a:ext>
            </a:extLst>
          </p:cNvPr>
          <p:cNvSpPr/>
          <p:nvPr/>
        </p:nvSpPr>
        <p:spPr>
          <a:xfrm>
            <a:off x="517071" y="1273645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入院症状</a:t>
            </a:r>
            <a:endParaRPr lang="en-US" sz="140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403E40FA-58EC-AE60-D8F8-EEC42D91749D}"/>
              </a:ext>
            </a:extLst>
          </p:cNvPr>
          <p:cNvSpPr/>
          <p:nvPr/>
        </p:nvSpPr>
        <p:spPr>
          <a:xfrm>
            <a:off x="356616" y="1415152"/>
            <a:ext cx="2249424" cy="18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突发偏瘫或偏身无力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突发失语或言语不清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突发偏身感觉减退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突发剧烈头痛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恶心、呕吐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抽搐</a:t>
            </a:r>
            <a:r>
              <a:rPr lang="en-US" altLang="zh-CN" sz="1200" dirty="0"/>
              <a:t>,</a:t>
            </a:r>
            <a:endParaRPr lang="zh-CN" alt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嗜睡、意识障碍或昏迷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血压明显升高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FE69777A-5B16-E785-2F8B-EEB867CA6DAB}"/>
              </a:ext>
            </a:extLst>
          </p:cNvPr>
          <p:cNvSpPr/>
          <p:nvPr/>
        </p:nvSpPr>
        <p:spPr>
          <a:xfrm>
            <a:off x="2434372" y="2007609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11EAE8E-C250-76B0-45E2-9B58357E5149}"/>
              </a:ext>
            </a:extLst>
          </p:cNvPr>
          <p:cNvSpPr/>
          <p:nvPr/>
        </p:nvSpPr>
        <p:spPr>
          <a:xfrm>
            <a:off x="2759201" y="1072900"/>
            <a:ext cx="4004092" cy="3650203"/>
          </a:xfrm>
          <a:prstGeom prst="roundRect">
            <a:avLst>
              <a:gd name="adj" fmla="val 5455"/>
            </a:avLst>
          </a:prstGeom>
          <a:solidFill>
            <a:srgbClr val="DFF3EA">
              <a:alpha val="94000"/>
            </a:srgbClr>
          </a:solidFill>
          <a:ln w="12700">
            <a:solidFill>
              <a:srgbClr val="DFF3EA">
                <a:alpha val="85000"/>
              </a:srgbClr>
            </a:solidFill>
            <a:prstDash val="solid"/>
          </a:ln>
        </p:spPr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B8F322F-0BAC-EE08-455F-A4C83143F110}"/>
              </a:ext>
            </a:extLst>
          </p:cNvPr>
          <p:cNvSpPr/>
          <p:nvPr/>
        </p:nvSpPr>
        <p:spPr>
          <a:xfrm>
            <a:off x="2868930" y="17282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8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F217A316-307B-370E-FB2C-BE72085E699A}"/>
              </a:ext>
            </a:extLst>
          </p:cNvPr>
          <p:cNvSpPr/>
          <p:nvPr/>
        </p:nvSpPr>
        <p:spPr>
          <a:xfrm>
            <a:off x="3035808" y="1531135"/>
            <a:ext cx="3383388" cy="181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评估气道、呼吸、循环，即 </a:t>
            </a:r>
            <a:r>
              <a:rPr lang="en-US" altLang="zh-CN" sz="1200" dirty="0"/>
              <a:t>ABC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记录血压、心率、血氧、体温。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做指尖血糖，排除低血糖模拟卒中。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明确发病时间，或记录“最后一次正常时间”。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快速采集既往史，包括高血压、既往卒中、脑血管畸形、肿瘤、肝病、血液病。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记录用药史，重点是华法林、直接口服抗凝药、肝素、阿司匹林、氯吡格雷等。</a:t>
            </a:r>
          </a:p>
          <a:p>
            <a:pPr marL="0" indent="0" algn="ctr">
              <a:buNone/>
            </a:pPr>
            <a:endParaRPr lang="en-US" sz="94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A016B0E8-C1A4-8DD0-88AC-980B2ABA96FD}"/>
              </a:ext>
            </a:extLst>
          </p:cNvPr>
          <p:cNvSpPr/>
          <p:nvPr/>
        </p:nvSpPr>
        <p:spPr>
          <a:xfrm rot="5400000">
            <a:off x="9651710" y="2763069"/>
            <a:ext cx="522948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08D2AE81-222B-0636-7F41-E69EF3F5FF76}"/>
              </a:ext>
            </a:extLst>
          </p:cNvPr>
          <p:cNvSpPr/>
          <p:nvPr/>
        </p:nvSpPr>
        <p:spPr>
          <a:xfrm>
            <a:off x="3218688" y="5635744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B806026C-0220-19A8-4AC1-53030951090B}"/>
              </a:ext>
            </a:extLst>
          </p:cNvPr>
          <p:cNvSpPr/>
          <p:nvPr/>
        </p:nvSpPr>
        <p:spPr>
          <a:xfrm>
            <a:off x="8020190" y="3304912"/>
            <a:ext cx="3680266" cy="1418192"/>
          </a:xfrm>
          <a:prstGeom prst="roundRect">
            <a:avLst>
              <a:gd name="adj" fmla="val 5455"/>
            </a:avLst>
          </a:prstGeom>
          <a:solidFill>
            <a:srgbClr val="EFF1FA">
              <a:alpha val="94000"/>
            </a:srgbClr>
          </a:solidFill>
          <a:ln w="12700">
            <a:solidFill>
              <a:srgbClr val="EFF1FA">
                <a:alpha val="85000"/>
              </a:srgbClr>
            </a:solidFill>
            <a:prstDash val="solid"/>
          </a:ln>
        </p:spPr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061C68F-DE58-0AF6-7D99-3B6D52F473F9}"/>
              </a:ext>
            </a:extLst>
          </p:cNvPr>
          <p:cNvSpPr/>
          <p:nvPr/>
        </p:nvSpPr>
        <p:spPr>
          <a:xfrm>
            <a:off x="3712464" y="537971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JSONL 样本</a:t>
            </a:r>
            <a:endParaRPr lang="en-US" sz="118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90595E76-3A6F-EB53-2528-A5183066602F}"/>
              </a:ext>
            </a:extLst>
          </p:cNvPr>
          <p:cNvSpPr/>
          <p:nvPr/>
        </p:nvSpPr>
        <p:spPr>
          <a:xfrm>
            <a:off x="3721608" y="5617456"/>
            <a:ext cx="1591056" cy="42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target_struct</a:t>
            </a:r>
            <a:endParaRPr lang="en-US" sz="94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AAFF62A7-65D3-074A-0FA7-BBA4069CAE68}"/>
              </a:ext>
            </a:extLst>
          </p:cNvPr>
          <p:cNvSpPr/>
          <p:nvPr/>
        </p:nvSpPr>
        <p:spPr>
          <a:xfrm>
            <a:off x="5614416" y="5635744"/>
            <a:ext cx="274320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1F9433E2-8BEF-69E9-6F0F-0503F3800561}"/>
              </a:ext>
            </a:extLst>
          </p:cNvPr>
          <p:cNvSpPr/>
          <p:nvPr/>
        </p:nvSpPr>
        <p:spPr>
          <a:xfrm>
            <a:off x="5907024" y="5269984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FBE7E5">
              <a:alpha val="94000"/>
            </a:srgbClr>
          </a:solidFill>
          <a:ln w="12700">
            <a:solidFill>
              <a:srgbClr val="FBE7E5">
                <a:alpha val="85000"/>
              </a:srgbClr>
            </a:solidFill>
            <a:prstDash val="solid"/>
          </a:ln>
        </p:spPr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1A05FED5-B1E1-46F5-2C30-AB9A11E3C2C2}"/>
              </a:ext>
            </a:extLst>
          </p:cNvPr>
          <p:cNvSpPr/>
          <p:nvPr/>
        </p:nvSpPr>
        <p:spPr>
          <a:xfrm>
            <a:off x="6016752" y="537971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</a:t>
            </a:r>
            <a:endParaRPr lang="en-US" sz="118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8F0867D2-0795-7939-65EF-261F42A36A8A}"/>
              </a:ext>
            </a:extLst>
          </p:cNvPr>
          <p:cNvSpPr/>
          <p:nvPr/>
        </p:nvSpPr>
        <p:spPr>
          <a:xfrm>
            <a:off x="6025896" y="5617456"/>
            <a:ext cx="1133856" cy="290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patient 级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4863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/ val / test</a:t>
            </a:r>
            <a:endParaRPr lang="en-US" sz="940" dirty="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AA8DF530-12A8-01BF-227D-9886EC05B9C4}"/>
              </a:ext>
            </a:extLst>
          </p:cNvPr>
          <p:cNvSpPr/>
          <p:nvPr/>
        </p:nvSpPr>
        <p:spPr>
          <a:xfrm>
            <a:off x="3953854" y="1254917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急诊卒中通道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9FE49CA7-B4FB-D881-D324-52787D2FD674}"/>
              </a:ext>
            </a:extLst>
          </p:cNvPr>
          <p:cNvSpPr/>
          <p:nvPr/>
        </p:nvSpPr>
        <p:spPr>
          <a:xfrm>
            <a:off x="6824688" y="1995598"/>
            <a:ext cx="1016617" cy="310896"/>
          </a:xfrm>
          <a:prstGeom prst="chevron">
            <a:avLst/>
          </a:prstGeom>
          <a:solidFill>
            <a:srgbClr val="5CB6C8"/>
          </a:solidFill>
          <a:ln w="12700">
            <a:solidFill>
              <a:srgbClr val="5CB6C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A3E6F92A-E0B9-9199-35D3-5EE3FBE08B09}"/>
              </a:ext>
            </a:extLst>
          </p:cNvPr>
          <p:cNvSpPr/>
          <p:nvPr/>
        </p:nvSpPr>
        <p:spPr>
          <a:xfrm>
            <a:off x="2926080" y="3583146"/>
            <a:ext cx="374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dirty="0"/>
              <a:t>三个基线：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意识水平：常用 </a:t>
            </a:r>
            <a:r>
              <a:rPr lang="en-US" altLang="zh-CN" sz="1200" dirty="0"/>
              <a:t>GCS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神经功能缺损程度：常用 </a:t>
            </a:r>
            <a:r>
              <a:rPr lang="en-US" altLang="zh-CN" sz="1200" dirty="0"/>
              <a:t>NIHSS</a:t>
            </a:r>
            <a:r>
              <a:rPr lang="zh-CN" altLang="en-US" sz="1200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是否存在脑疝征象、脑干受压体征或病情快速恶化。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65852215-C969-D408-F77E-FB6C2886A889}"/>
              </a:ext>
            </a:extLst>
          </p:cNvPr>
          <p:cNvSpPr/>
          <p:nvPr/>
        </p:nvSpPr>
        <p:spPr>
          <a:xfrm>
            <a:off x="9174397" y="1749147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首轮影像确诊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AD0BBE14-B37E-307C-A6F1-C75BDE3DF459}"/>
              </a:ext>
            </a:extLst>
          </p:cNvPr>
          <p:cNvSpPr/>
          <p:nvPr/>
        </p:nvSpPr>
        <p:spPr>
          <a:xfrm>
            <a:off x="3953854" y="3192540"/>
            <a:ext cx="1609345" cy="40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急诊神经系统查体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A5DDC1BE-54FC-AEF5-12EF-79446C5837AA}"/>
              </a:ext>
            </a:extLst>
          </p:cNvPr>
          <p:cNvSpPr/>
          <p:nvPr/>
        </p:nvSpPr>
        <p:spPr>
          <a:xfrm>
            <a:off x="6793119" y="1452613"/>
            <a:ext cx="1048186" cy="52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医生判断为疑似脑出血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DBD55F19-3896-8C18-F260-26D3540CAAEE}"/>
              </a:ext>
            </a:extLst>
          </p:cNvPr>
          <p:cNvSpPr/>
          <p:nvPr/>
        </p:nvSpPr>
        <p:spPr>
          <a:xfrm>
            <a:off x="8203202" y="1864633"/>
            <a:ext cx="3383388" cy="797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/>
              <a:t>对于疑似脑出血患者，急诊</a:t>
            </a:r>
            <a:r>
              <a:rPr lang="zh-CN" altLang="en-US" sz="1200" b="1" dirty="0">
                <a:solidFill>
                  <a:srgbClr val="FF0000"/>
                </a:solidFill>
              </a:rPr>
              <a:t>平扫 </a:t>
            </a:r>
            <a:r>
              <a:rPr lang="en-US" altLang="zh-CN" sz="1200" b="1" dirty="0">
                <a:solidFill>
                  <a:srgbClr val="FF0000"/>
                </a:solidFill>
              </a:rPr>
              <a:t>CT </a:t>
            </a:r>
            <a:r>
              <a:rPr lang="zh-CN" altLang="en-US" sz="1200" dirty="0"/>
              <a:t>为首选，因为速度快、可及性高、对急性出血识别可靠。</a:t>
            </a:r>
            <a:endParaRPr lang="en-US" sz="1200" dirty="0"/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7F712BB3-AD28-FA30-5181-F14C853C0133}"/>
              </a:ext>
            </a:extLst>
          </p:cNvPr>
          <p:cNvSpPr/>
          <p:nvPr/>
        </p:nvSpPr>
        <p:spPr>
          <a:xfrm>
            <a:off x="9108512" y="341135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首轮影像确诊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BA7FC758-3CD9-0279-BC2F-DB8864BA1E28}"/>
              </a:ext>
            </a:extLst>
          </p:cNvPr>
          <p:cNvSpPr/>
          <p:nvPr/>
        </p:nvSpPr>
        <p:spPr>
          <a:xfrm>
            <a:off x="4102552" y="305630"/>
            <a:ext cx="1311948" cy="52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引入</a:t>
            </a:r>
            <a:r>
              <a:rPr lang="en-US" altLang="zh-CN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100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处，</a:t>
            </a:r>
            <a:endParaRPr lang="en-US" altLang="zh-CN" sz="1100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急诊</a:t>
            </a:r>
            <a:r>
              <a:rPr lang="zh-CN" altLang="en-US" sz="1400" b="1">
                <a:solidFill>
                  <a:srgbClr val="16313B"/>
                </a:solidFill>
                <a:latin typeface="Microsoft YaHei" pitchFamily="34" charset="0"/>
                <a:ea typeface="Microsoft YaHei" pitchFamily="34" charset="-122"/>
              </a:rPr>
              <a:t>分诊，判断是否</a:t>
            </a:r>
            <a:endParaRPr lang="en-US" sz="1400" b="1" dirty="0">
              <a:solidFill>
                <a:srgbClr val="1631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7381C16A-7644-5FCA-D74C-279D0B0F1BC0}"/>
              </a:ext>
            </a:extLst>
          </p:cNvPr>
          <p:cNvCxnSpPr>
            <a:stCxn id="61" idx="1"/>
            <a:endCxn id="34" idx="0"/>
          </p:cNvCxnSpPr>
          <p:nvPr/>
        </p:nvCxnSpPr>
        <p:spPr>
          <a:xfrm rot="10800000" flipV="1">
            <a:off x="2502952" y="568435"/>
            <a:ext cx="1599600" cy="1439173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818EE83D-5F0F-31BF-CD8E-A8961BBA296B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5254273" y="552555"/>
            <a:ext cx="2062939" cy="900058"/>
          </a:xfrm>
          <a:prstGeom prst="bentConnector2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68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9119-59FE-47EB-11B3-B1534997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62EADF-DE47-E94D-9980-709B3D66E877}"/>
              </a:ext>
            </a:extLst>
          </p:cNvPr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A8EA8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950EA5-7479-4480-8FDB-0219AACC1A7A}"/>
              </a:ext>
            </a:extLst>
          </p:cNvPr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AF3F6"/>
          </a:solidFill>
          <a:ln w="12700">
            <a:solidFill>
              <a:srgbClr val="F5FAFC">
                <a:alpha val="0"/>
              </a:srgb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577947-5960-9D68-F346-A0EDC8D42A77}"/>
              </a:ext>
            </a:extLst>
          </p:cNvPr>
          <p:cNvSpPr/>
          <p:nvPr/>
        </p:nvSpPr>
        <p:spPr>
          <a:xfrm>
            <a:off x="777240" y="874343"/>
            <a:ext cx="8046720" cy="444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96" dirty="0"/>
              <a:t>需要定义的问题：</a:t>
            </a:r>
            <a:endParaRPr lang="en-US" altLang="zh-CN" sz="2396" dirty="0"/>
          </a:p>
          <a:p>
            <a:pPr marL="457200" indent="-457200">
              <a:buAutoNum type="arabicPeriod"/>
            </a:pPr>
            <a:r>
              <a:rPr lang="zh-CN" altLang="en-US" sz="2396" dirty="0"/>
              <a:t>出血有哪一些疾病？</a:t>
            </a:r>
            <a:endParaRPr lang="en-US" altLang="zh-CN" sz="2396" dirty="0"/>
          </a:p>
          <a:p>
            <a:pPr marL="457200" indent="-457200">
              <a:buAutoNum type="arabicPeriod"/>
            </a:pPr>
            <a:r>
              <a:rPr lang="zh-CN" altLang="en-US" sz="2396" dirty="0"/>
              <a:t>出血的症状</a:t>
            </a:r>
            <a:r>
              <a:rPr lang="en-US" altLang="zh-CN" sz="2396" dirty="0"/>
              <a:t>-</a:t>
            </a:r>
            <a:r>
              <a:rPr lang="zh-CN" altLang="en-US" sz="2396" dirty="0"/>
              <a:t>诊断</a:t>
            </a:r>
            <a:r>
              <a:rPr lang="en-US" altLang="zh-CN" sz="2396" dirty="0"/>
              <a:t>-</a:t>
            </a:r>
            <a:r>
              <a:rPr lang="zh-CN" altLang="en-US" sz="2396" dirty="0"/>
              <a:t>规划</a:t>
            </a:r>
            <a:r>
              <a:rPr lang="en-US" altLang="zh-CN" sz="2396" dirty="0"/>
              <a:t>-</a:t>
            </a:r>
            <a:r>
              <a:rPr lang="zh-CN" altLang="en-US" sz="2396" dirty="0"/>
              <a:t>治疗闭环</a:t>
            </a:r>
            <a:endParaRPr lang="en-US" altLang="zh-CN" sz="2396" dirty="0"/>
          </a:p>
          <a:p>
            <a:pPr marL="457200" indent="-457200">
              <a:buAutoNum type="arabicPeriod"/>
            </a:pPr>
            <a:r>
              <a:rPr lang="zh-CN" altLang="en-US" sz="2396" dirty="0"/>
              <a:t>出血的诊疗过程如何引入</a:t>
            </a:r>
            <a:r>
              <a:rPr lang="en-US" altLang="zh-CN" sz="2396" dirty="0"/>
              <a:t>ai</a:t>
            </a:r>
            <a:r>
              <a:rPr lang="zh-CN" altLang="en-US" sz="2396" dirty="0"/>
              <a:t>？ </a:t>
            </a:r>
            <a:endParaRPr lang="en-US" altLang="zh-CN" sz="2396" dirty="0"/>
          </a:p>
          <a:p>
            <a:pPr marL="457200" indent="-457200">
              <a:buAutoNum type="arabicPeriod"/>
            </a:pPr>
            <a:r>
              <a:rPr lang="zh-CN" altLang="en-US" sz="2396" dirty="0"/>
              <a:t>出血的诊疗过程存在哪一些问题？</a:t>
            </a:r>
            <a:endParaRPr lang="en-US" altLang="zh-CN" sz="2396" dirty="0"/>
          </a:p>
          <a:p>
            <a:pPr marL="0" indent="0">
              <a:buNone/>
            </a:pPr>
            <a:endParaRPr lang="en-US" sz="2396" dirty="0"/>
          </a:p>
          <a:p>
            <a:pPr marL="0" indent="0">
              <a:buNone/>
            </a:pPr>
            <a:endParaRPr lang="en-US" sz="2396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253E22-E720-9281-EA00-A4AFDE0848A1}"/>
              </a:ext>
            </a:extLst>
          </p:cNvPr>
          <p:cNvSpPr/>
          <p:nvPr/>
        </p:nvSpPr>
        <p:spPr>
          <a:xfrm>
            <a:off x="9162288" y="5852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EXECUTION</a:t>
            </a:r>
            <a:endParaRPr lang="en-US" sz="102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283E585-BC0C-A6ED-394A-4EC0BA4D1318}"/>
              </a:ext>
            </a:extLst>
          </p:cNvPr>
          <p:cNvSpPr/>
          <p:nvPr/>
        </p:nvSpPr>
        <p:spPr>
          <a:xfrm>
            <a:off x="11137392" y="65379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8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081969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1420</Words>
  <Application>Microsoft Office PowerPoint</Application>
  <PresentationFormat>宽屏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Arial Unicode MS</vt:lpstr>
      <vt:lpstr>Microsoft YaHei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脑肿瘤 MRI 技术路线主干版</dc:title>
  <dc:subject>脑肿瘤 MRI 技术路线主干版</dc:subject>
  <dc:creator>OpenAI Codex</dc:creator>
  <cp:lastModifiedBy>兆熙 林</cp:lastModifiedBy>
  <cp:revision>16</cp:revision>
  <dcterms:created xsi:type="dcterms:W3CDTF">2026-03-09T10:45:54Z</dcterms:created>
  <dcterms:modified xsi:type="dcterms:W3CDTF">2026-03-23T11:14:00Z</dcterms:modified>
</cp:coreProperties>
</file>