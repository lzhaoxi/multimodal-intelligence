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  <p:sldId id="261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96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73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76656" y="841248"/>
            <a:ext cx="109728" cy="4572000"/>
          </a:xfrm>
          <a:prstGeom prst="rect">
            <a:avLst/>
          </a:prstGeom>
          <a:solidFill>
            <a:srgbClr val="1A8EA8"/>
          </a:solidFill>
          <a:ln w="12700">
            <a:solidFill>
              <a:srgbClr val="1A8EA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" y="1133856"/>
            <a:ext cx="6126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脑肿瘤 MRI </a:t>
            </a:r>
            <a:r>
              <a:rPr lang="en-US" sz="2696" b="1" dirty="0" err="1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</a:t>
            </a:r>
            <a:endParaRPr lang="en-US" sz="2696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从原始设想到数据-微调-评测最小闭环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16360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D8F0F4"/>
          </a:solidFill>
          <a:ln w="12700">
            <a:solidFill>
              <a:srgbClr val="D8F0F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6360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2168504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DFF3EA"/>
          </a:solidFill>
          <a:ln w="12700">
            <a:solidFill>
              <a:srgbClr val="DFF3E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8504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收敛判断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3320648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FF1DB"/>
          </a:solidFill>
          <a:ln w="12700">
            <a:solidFill>
              <a:srgbClr val="FFF1D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20648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数据主线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472792" y="4755285"/>
            <a:ext cx="1207008" cy="292608"/>
          </a:xfrm>
          <a:prstGeom prst="roundRect">
            <a:avLst>
              <a:gd name="adj" fmla="val 25000"/>
            </a:avLst>
          </a:prstGeom>
          <a:solidFill>
            <a:srgbClr val="EFF1FA"/>
          </a:solidFill>
          <a:ln w="12700">
            <a:solidFill>
              <a:srgbClr val="EFF1F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792" y="4805577"/>
            <a:ext cx="12070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多模态微调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807816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BE7E5"/>
          </a:solidFill>
          <a:ln w="12700">
            <a:solidFill>
              <a:srgbClr val="FBE7E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7816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可信评测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11137392" y="62727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原始设想与问题背景</a:t>
            </a:r>
            <a:endParaRPr lang="en-US" sz="2396" dirty="0"/>
          </a:p>
        </p:txBody>
      </p:sp>
      <p:sp>
        <p:nvSpPr>
          <p:cNvPr id="6" name="Shape 4"/>
          <p:cNvSpPr/>
          <p:nvPr/>
        </p:nvSpPr>
        <p:spPr>
          <a:xfrm>
            <a:off x="786384" y="1828800"/>
            <a:ext cx="2926080" cy="2029968"/>
          </a:xfrm>
          <a:prstGeom prst="roundRect">
            <a:avLst>
              <a:gd name="adj" fmla="val 2703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93852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大规模异构数据库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905256" y="2176272"/>
            <a:ext cx="268833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术前诊疗报告 / 医学影像 / 康复随访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脱敏、样本对齐、预处理、存储、语料整理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858768" y="2651760"/>
            <a:ext cx="329184" cy="384048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15968" y="1828800"/>
            <a:ext cx="2926080" cy="2029968"/>
          </a:xfrm>
          <a:prstGeom prst="roundRect">
            <a:avLst>
              <a:gd name="adj" fmla="val 2703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193852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影像-文本特征抽取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4434840" y="2176272"/>
            <a:ext cx="268833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/ MRI 影像特征网络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关键特征词、三元组与相似度特征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7388352" y="2651760"/>
            <a:ext cx="329184" cy="384048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45552" y="1828800"/>
            <a:ext cx="3566160" cy="2029968"/>
          </a:xfrm>
          <a:prstGeom prst="roundRect">
            <a:avLst>
              <a:gd name="adj" fmla="val 2703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938528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诊断-治疗-康复大模型与微调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7964424" y="2176272"/>
            <a:ext cx="332841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Qwen3-VL 的神经外科诊疗模型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多模态融合 + 参数高效微调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7964424" y="4711747"/>
            <a:ext cx="2676603" cy="1106425"/>
          </a:xfrm>
          <a:prstGeom prst="roundRect">
            <a:avLst>
              <a:gd name="adj" fmla="val 4310"/>
            </a:avLst>
          </a:prstGeom>
          <a:solidFill>
            <a:srgbClr val="FDF2F1"/>
          </a:solidFill>
          <a:ln w="12700">
            <a:solidFill>
              <a:srgbClr val="E2C9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5352" y="495362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8225352" y="5265482"/>
            <a:ext cx="2176272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这是一个远期蓝图，不适合直接作为第一阶段执行方案</a:t>
            </a:r>
            <a:r>
              <a:rPr lang="en-US" sz="1100" b="1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b="1" dirty="0"/>
          </a:p>
        </p:txBody>
      </p:sp>
      <p:sp>
        <p:nvSpPr>
          <p:cNvPr id="20" name="Text 18"/>
          <p:cNvSpPr/>
          <p:nvPr/>
        </p:nvSpPr>
        <p:spPr>
          <a:xfrm>
            <a:off x="786384" y="4899965"/>
            <a:ext cx="4303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原始设想的核心问题“起点过大</a:t>
            </a:r>
            <a:r>
              <a:rPr 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</a:t>
            </a:r>
            <a:r>
              <a:rPr lang="zh-CN" alt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、重复造轮子、方法较老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640080" y="655624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87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先把原始设想准确摆出来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7EC4B66E-F8B8-583A-A320-8793333EBC78}"/>
              </a:ext>
            </a:extLst>
          </p:cNvPr>
          <p:cNvSpPr/>
          <p:nvPr/>
        </p:nvSpPr>
        <p:spPr>
          <a:xfrm>
            <a:off x="914400" y="2648766"/>
            <a:ext cx="2688336" cy="106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构建面向神经外科疾病的大规模诊疗异构数据库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项目拟构建包括患者术前诊疗报告、医学影像、康复随访的诊疗数据库，研究数据脱敏及数据样本对齐方法，构建患者医学影像数据的预处理及存储技术，建立患者诊疗报告、术后随访等文本数据的临床语料数据库，并进行训练集</a:t>
            </a:r>
            <a:r>
              <a:rPr lang="en-US" altLang="zh-CN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测试集划分，从而为本项目的开展提供坚实的数据基础。</a:t>
            </a:r>
            <a:endParaRPr lang="en-US" sz="94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2A37EA9-D754-B660-2C86-CD63075111A0}"/>
              </a:ext>
            </a:extLst>
          </p:cNvPr>
          <p:cNvSpPr txBox="1"/>
          <p:nvPr/>
        </p:nvSpPr>
        <p:spPr>
          <a:xfrm>
            <a:off x="4434840" y="2628156"/>
            <a:ext cx="2688336" cy="110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研究影像-文本多模态信息的特征抽取方法。针对术前CT影像、MRI影像等影像学信息，构建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基于空间注意力机制的影像特征提取网络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，将病灶特征、水肿区域、病理特点映射为高维特征向量。针对诊断报告、随访报告等文本信息，建立基于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关键特征词的语义映射表，提出基于三元组特征和相似度特征的语义特征提取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方法。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2C74715-59B6-5FD5-33BD-3158880564E3}"/>
              </a:ext>
            </a:extLst>
          </p:cNvPr>
          <p:cNvSpPr txBox="1"/>
          <p:nvPr/>
        </p:nvSpPr>
        <p:spPr>
          <a:xfrm>
            <a:off x="7955280" y="2555828"/>
            <a:ext cx="3346704" cy="124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建立患者诊断-治疗-康复的智能大模型及微调方法。综合患者术前诊疗数据的特征，建立基于Qwen3-VL的神经外科疾病智能诊断大模型，构建基于向量距离置信度的特征权重融合方法，实现术前多模态信息的融合。以此为基础，针对神经外科疾病术前诊断、术中指导、术后康复等多下游临床任务，建立基于低秩混合矩阵的大模型微调框架，实现资源受限时的模型参数高效微调，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最终实现神经外科疾病的智能诊疗。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37EB5B82-F929-2DC3-4359-2A161ECCA910}"/>
              </a:ext>
            </a:extLst>
          </p:cNvPr>
          <p:cNvCxnSpPr/>
          <p:nvPr/>
        </p:nvCxnSpPr>
        <p:spPr>
          <a:xfrm flipV="1">
            <a:off x="2524715" y="2887238"/>
            <a:ext cx="0" cy="194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A00C5229-CC3F-8252-6E40-FA6AFE0F4B3F}"/>
              </a:ext>
            </a:extLst>
          </p:cNvPr>
          <p:cNvCxnSpPr>
            <a:cxnSpLocks/>
          </p:cNvCxnSpPr>
          <p:nvPr/>
        </p:nvCxnSpPr>
        <p:spPr>
          <a:xfrm flipV="1">
            <a:off x="3751575" y="3035808"/>
            <a:ext cx="683265" cy="1864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84608C6-25E6-D10C-8B3C-7BD965D0129F}"/>
              </a:ext>
            </a:extLst>
          </p:cNvPr>
          <p:cNvCxnSpPr>
            <a:cxnSpLocks/>
          </p:cNvCxnSpPr>
          <p:nvPr/>
        </p:nvCxnSpPr>
        <p:spPr>
          <a:xfrm flipV="1">
            <a:off x="4631436" y="3785616"/>
            <a:ext cx="772135" cy="11064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3454490" cy="2414016"/>
          </a:xfrm>
          <a:prstGeom prst="chevron">
            <a:avLst/>
          </a:prstGeom>
          <a:solidFill>
            <a:srgbClr val="FDF2F1"/>
          </a:solidFill>
          <a:ln w="12700">
            <a:solidFill>
              <a:srgbClr val="FBE7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54261" y="2011680"/>
            <a:ext cx="2324356" cy="2048256"/>
          </a:xfrm>
          <a:prstGeom prst="chevron">
            <a:avLst/>
          </a:prstGeom>
          <a:solidFill>
            <a:srgbClr val="EDF8F4"/>
          </a:solidFill>
          <a:ln w="12700">
            <a:solidFill>
              <a:srgbClr val="DFF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10910" y="204971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r>
              <a:rPr lang="en-US" sz="13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范围太大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85381" y="2601023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数据条件不足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22541" y="3158807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技术链</a:t>
            </a:r>
            <a:r>
              <a:rPr lang="zh-CN" alt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路不聚焦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10910" y="375729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评测口</a:t>
            </a:r>
            <a:r>
              <a:rPr lang="zh-CN" altLang="en-US" sz="13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74920" y="235000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收敛结果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5430196" y="29443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脑肿瘤 MRI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131807" y="348386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最小闭环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388352" y="1755648"/>
            <a:ext cx="3749040" cy="1060704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1847088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为什么不是一步做“全神经外科智能诊疗”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7498080" y="2269006"/>
            <a:ext cx="3529584" cy="344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因为第一阶段最重要的是先形成一个可训练、可评测、可复现的闭环结果</a:t>
            </a: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</a:t>
            </a: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被过长链路拖住</a:t>
            </a: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388352" y="3072384"/>
            <a:ext cx="3749040" cy="1060704"/>
          </a:xfrm>
          <a:prstGeom prst="roundRect">
            <a:avLst>
              <a:gd name="adj" fmla="val 4310"/>
            </a:avLst>
          </a:prstGeom>
          <a:solidFill>
            <a:srgbClr val="EDF8F4"/>
          </a:solidFill>
          <a:ln w="12700">
            <a:solidFill>
              <a:srgbClr val="CBE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3163824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为什么脑肿瘤 MRI 更适合起步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498080" y="3549091"/>
            <a:ext cx="3529584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公开数据基础更好，更容易形成图像与文本主干，也更容易定义病例级检索和结构化字段评测。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969264" y="5065776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第一阶段先收敛到脑肿瘤 MRI 最小闭环，而不是一开始做全神经外科智能诊疗</a:t>
            </a:r>
            <a:r>
              <a:rPr lang="en-US" sz="124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当前阶段目标 vs 最终目标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LAYERS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812280" y="2949685"/>
            <a:ext cx="4828032" cy="126608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  <a:effectLst>
            <a:outerShdw blurRad="12700" dist="50800" dir="2700000" algn="bl" rotWithShape="0">
              <a:srgbClr val="B7C8CE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958584" y="3059412"/>
            <a:ext cx="4535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75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最终目标｜多模态微调主线</a:t>
            </a:r>
            <a:endParaRPr lang="en-US" sz="1375" dirty="0"/>
          </a:p>
        </p:txBody>
      </p:sp>
      <p:sp>
        <p:nvSpPr>
          <p:cNvPr id="8" name="Text 6"/>
          <p:cNvSpPr/>
          <p:nvPr/>
        </p:nvSpPr>
        <p:spPr>
          <a:xfrm>
            <a:off x="6967728" y="3450755"/>
            <a:ext cx="4517136" cy="522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最终要做的，仍然是服务神经外科多任务的多模态微调路线。可以进一步研究外接 pretrained 图像 encoder、图像 embedding 注入、参数高效微调，以及更完整的多模态融合机制。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057900" y="3310776"/>
            <a:ext cx="512064" cy="548640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" y="2118819"/>
            <a:ext cx="4864608" cy="295488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  <a:effectLst>
            <a:outerShdw blurRad="12700" dist="50800" dir="2700000" algn="bl" rotWithShape="0">
              <a:srgbClr val="B7C8CE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2228547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75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当前阶段目标｜先打通最小闭环</a:t>
            </a:r>
            <a:endParaRPr lang="en-US" sz="1375" dirty="0"/>
          </a:p>
        </p:txBody>
      </p:sp>
      <p:sp>
        <p:nvSpPr>
          <p:cNvPr id="12" name="Text 10"/>
          <p:cNvSpPr/>
          <p:nvPr/>
        </p:nvSpPr>
        <p:spPr>
          <a:xfrm>
            <a:off x="896112" y="2521155"/>
            <a:ext cx="4553712" cy="522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当前阶段不是一步把这些都做满，而是先在脑肿瘤 MRI 场景下，把“数据组织 -&gt; 统一样本 -&gt; 初版多模态微调 -&gt; 可信评测”稳定跑通，形成可比较的第一版结果。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1414407" y="3493656"/>
            <a:ext cx="3182112" cy="819399"/>
          </a:xfrm>
          <a:prstGeom prst="roundRect">
            <a:avLst>
              <a:gd name="adj" fmla="val 4310"/>
            </a:avLst>
          </a:prstGeom>
          <a:solidFill>
            <a:srgbClr val="F5F6FD"/>
          </a:solidFill>
          <a:ln w="12700">
            <a:solidFill>
              <a:srgbClr val="D5D9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4135" y="3585096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后续增强方向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1524135" y="3851834"/>
            <a:ext cx="296265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强化学习/偏好优化可以作为下一阶段增强，但不进入当前主流程。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主干技术路线总览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TRUNK ROUTE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844107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3835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987363" y="3503947"/>
            <a:ext cx="149961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MRI / 报告 / 病理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公开数据起步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36331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5515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75243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数据标准化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3093531" y="3411779"/>
            <a:ext cx="149961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统一目录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统一病例键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统一挂接关系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4757739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86923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6651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统一样本层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281995" y="3410742"/>
            <a:ext cx="149961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结构化字段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JSONL 样本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/ val / test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79147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08331" y="2651760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8059" y="276148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ms-swift 多模态微调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7336347" y="3380308"/>
            <a:ext cx="149961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 encoder 接入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注入 + PEFT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任务适配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00555" y="323697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34539" y="3035808"/>
            <a:ext cx="1118805" cy="877824"/>
          </a:xfrm>
          <a:prstGeom prst="roundRect">
            <a:avLst>
              <a:gd name="adj" fmla="val 3488"/>
            </a:avLst>
          </a:prstGeom>
          <a:solidFill>
            <a:srgbClr val="EAF7FA">
              <a:alpha val="94000"/>
            </a:srgbClr>
          </a:solidFill>
          <a:ln w="12700">
            <a:solidFill>
              <a:srgbClr val="EAF7FA">
                <a:alpha val="8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39467" y="3346704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</a:t>
            </a:r>
            <a:endParaRPr lang="en-US" sz="1180" dirty="0"/>
          </a:p>
        </p:txBody>
      </p:sp>
      <p:sp>
        <p:nvSpPr>
          <p:cNvPr id="30" name="Text 28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模型路线：以 ms-swift 为主干的多模态微调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ROUTE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713232" y="1975104"/>
            <a:ext cx="1700784" cy="1133856"/>
          </a:xfrm>
          <a:prstGeom prst="roundRect">
            <a:avLst>
              <a:gd name="adj" fmla="val 4839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579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MRI slice pack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822960" y="2517078"/>
            <a:ext cx="146304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 / 切片包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作为当前图像输入形态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2542032" y="2359152"/>
            <a:ext cx="256032" cy="347472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89504" y="1975104"/>
            <a:ext cx="1700784" cy="1133856"/>
          </a:xfrm>
          <a:prstGeom prst="roundRect">
            <a:avLst>
              <a:gd name="adj" fmla="val 4839"/>
            </a:avLst>
          </a:prstGeom>
          <a:solidFill>
            <a:srgbClr val="DFF3EA">
              <a:alpha val="94000"/>
            </a:srgbClr>
          </a:solidFill>
          <a:ln w="12700">
            <a:solidFill>
              <a:srgbClr val="DFF3EA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99232" y="21579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pretrained 图像 encoder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3017520" y="2551566"/>
            <a:ext cx="146304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输出图像特征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image embedding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256032" cy="347472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5776" y="1975104"/>
            <a:ext cx="1700784" cy="1133856"/>
          </a:xfrm>
          <a:prstGeom prst="roundRect">
            <a:avLst>
              <a:gd name="adj" fmla="val 4839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75504" y="21579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注入 / projector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175504" y="2583235"/>
            <a:ext cx="146304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把图像特征映射到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语言模型可消费空间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894576" y="2359152"/>
            <a:ext cx="256032" cy="347472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42048" y="1975104"/>
            <a:ext cx="1792224" cy="1133856"/>
          </a:xfrm>
          <a:prstGeom prst="roundRect">
            <a:avLst>
              <a:gd name="adj" fmla="val 4839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1776" y="215798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Qwen3-VL + ms-swift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7351776" y="2550889"/>
            <a:ext cx="1554480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PEFT / LoRA / QLoRA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组织多模态微调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96112" y="3730752"/>
            <a:ext cx="81564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3986784"/>
            <a:ext cx="7699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当前推荐的主干是：Qwen3-VL 基座 + ms-swift + PEFT/LoRA/QLoRA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1133856" y="4407408"/>
            <a:ext cx="7662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理由：工程链更短</a:t>
            </a:r>
            <a:r>
              <a:rPr lang="zh-CN" altLang="en-US" sz="105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框架成熟</a:t>
            </a:r>
            <a:r>
              <a:rPr lang="en-US" sz="105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适合有限资源下先形成第一版结果</a:t>
            </a:r>
            <a:r>
              <a:rPr lang="en-US" sz="105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272016" y="1755648"/>
            <a:ext cx="1828800" cy="1060704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81744" y="1993392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ms-swift 为什么适合当前主干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9381744" y="2389214"/>
            <a:ext cx="1609344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它更适合快速组织多模态微调流程，减少第一阶段工程摩擦。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9272016" y="2999232"/>
            <a:ext cx="1828800" cy="1060704"/>
          </a:xfrm>
          <a:prstGeom prst="roundRect">
            <a:avLst>
              <a:gd name="adj" fmla="val 4310"/>
            </a:avLst>
          </a:prstGeom>
          <a:solidFill>
            <a:srgbClr val="EDF8F4"/>
          </a:solidFill>
          <a:ln w="12700">
            <a:solidFill>
              <a:srgbClr val="CBE4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81744" y="3183331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检索为什么只是辅助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9381744" y="3567379"/>
            <a:ext cx="1609344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它可以做表征检查或候选召回辅助，但不是最终主目标。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9272016" y="4242816"/>
            <a:ext cx="1828800" cy="1006450"/>
          </a:xfrm>
          <a:prstGeom prst="roundRect">
            <a:avLst>
              <a:gd name="adj" fmla="val 4310"/>
            </a:avLst>
          </a:prstGeom>
          <a:solidFill>
            <a:srgbClr val="FDF2F1"/>
          </a:solidFill>
          <a:ln w="12700">
            <a:solidFill>
              <a:srgbClr val="E2C9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81744" y="4444593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为什么不先做重型 3D 端到端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9381744" y="4764633"/>
            <a:ext cx="1609344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因为显存、预处理和调参链太重，会拖慢闭环速度。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数据如何构建：从病例到多模态训练样本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TO SAMPLE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58368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病例输入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MRI 体数据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影像报告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病理 / 随访文本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2670048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54096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DFF3EA">
              <a:alpha val="94000"/>
            </a:srgbClr>
          </a:solidFill>
          <a:ln w="12700">
            <a:solidFill>
              <a:srgbClr val="DFF3EA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3824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影像标准化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3172968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统一格式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裁剪 / 重采样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slice pack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065776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49824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59552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报告结构化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568696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病灶位置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 / 分级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随访结果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7461504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45552" y="175564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186537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JSONL 样本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7964424" y="2103120"/>
            <a:ext cx="1591056" cy="42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messages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target_struct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9857232" y="2121408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9840" y="1755648"/>
            <a:ext cx="1371600" cy="1005840"/>
          </a:xfrm>
          <a:prstGeom prst="roundRect">
            <a:avLst>
              <a:gd name="adj" fmla="val 5455"/>
            </a:avLst>
          </a:prstGeom>
          <a:solidFill>
            <a:srgbClr val="FBE7E5">
              <a:alpha val="94000"/>
            </a:srgbClr>
          </a:solidFill>
          <a:ln w="12700">
            <a:solidFill>
              <a:srgbClr val="FBE7E5">
                <a:alpha val="8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59568" y="186537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切分</a:t>
            </a:r>
            <a:endParaRPr lang="en-US" sz="1180" dirty="0"/>
          </a:p>
        </p:txBody>
      </p:sp>
      <p:sp>
        <p:nvSpPr>
          <p:cNvPr id="24" name="Text 22"/>
          <p:cNvSpPr/>
          <p:nvPr/>
        </p:nvSpPr>
        <p:spPr>
          <a:xfrm>
            <a:off x="10268712" y="2103120"/>
            <a:ext cx="113385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patient 级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/ val / test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932688" y="3675888"/>
            <a:ext cx="813816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D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88720" y="3913632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统一样本层只保留 3 类：微调样本（主）、检索样本（辅）、模板摘要样本（可选）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1920240" y="4352544"/>
            <a:ext cx="1481328" cy="292608"/>
          </a:xfrm>
          <a:prstGeom prst="roundRect">
            <a:avLst>
              <a:gd name="adj" fmla="val 25000"/>
            </a:avLst>
          </a:prstGeom>
          <a:solidFill>
            <a:srgbClr val="DFF3EA"/>
          </a:solidFill>
          <a:ln w="12700">
            <a:solidFill>
              <a:srgbClr val="DFF3E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0240" y="4402836"/>
            <a:ext cx="1481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微调样本（主）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3913632" y="4352544"/>
            <a:ext cx="1481328" cy="292608"/>
          </a:xfrm>
          <a:prstGeom prst="roundRect">
            <a:avLst>
              <a:gd name="adj" fmla="val 25000"/>
            </a:avLst>
          </a:prstGeom>
          <a:solidFill>
            <a:srgbClr val="D8F0F4"/>
          </a:solidFill>
          <a:ln w="12700">
            <a:solidFill>
              <a:srgbClr val="D8F0F4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13632" y="4402836"/>
            <a:ext cx="1481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检索样本（辅）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5870448" y="4352544"/>
            <a:ext cx="1883664" cy="292608"/>
          </a:xfrm>
          <a:prstGeom prst="roundRect">
            <a:avLst>
              <a:gd name="adj" fmla="val 25000"/>
            </a:avLst>
          </a:prstGeom>
          <a:solidFill>
            <a:srgbClr val="FFF1DB"/>
          </a:solidFill>
          <a:ln w="12700">
            <a:solidFill>
              <a:srgbClr val="FFF1D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70448" y="4402836"/>
            <a:ext cx="18836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模板摘要样本（可选）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9345168" y="3547872"/>
            <a:ext cx="1901952" cy="804672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54896" y="363931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结构化字段为什么重要</a:t>
            </a:r>
            <a:endParaRPr lang="en-US" sz="1020" dirty="0"/>
          </a:p>
        </p:txBody>
      </p:sp>
      <p:sp>
        <p:nvSpPr>
          <p:cNvPr id="35" name="Text 33"/>
          <p:cNvSpPr/>
          <p:nvPr/>
        </p:nvSpPr>
        <p:spPr>
          <a:xfrm>
            <a:off x="9454896" y="3858768"/>
            <a:ext cx="168249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它是影像、文本、训练样本和评测指标之间的中间接口。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9345168" y="4754880"/>
            <a:ext cx="1901952" cy="713232"/>
          </a:xfrm>
          <a:prstGeom prst="roundRect">
            <a:avLst>
              <a:gd name="adj" fmla="val 4310"/>
            </a:avLst>
          </a:prstGeom>
          <a:solidFill>
            <a:srgbClr val="EDF8F4"/>
          </a:solidFill>
          <a:ln w="12700">
            <a:solidFill>
              <a:srgbClr val="CBE4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54896" y="4846320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样本层为什么关键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9454896" y="5065776"/>
            <a:ext cx="168249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因为它直接决定训练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数据能否</a:t>
            </a: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</a:t>
            </a: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9146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数据如何构建：从原始数据到统一数据层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145462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LAYERS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976385" y="1894183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统一目录、病例键、影像与文本的挂接关系</a:t>
            </a:r>
            <a:r>
              <a:rPr lang="en-US" sz="128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914400" y="2570192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E7F6FA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698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2103120" y="2698208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原始影像、原始报告、原始来源记录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3228560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EDF8F6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335657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staging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2103120" y="3356576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标准化影像、slice pack、清洗文本、结构化报告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3886928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FFF4E7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40149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manifests</a:t>
            </a:r>
            <a:endParaRPr lang="en-US" sz="1220" dirty="0"/>
          </a:p>
        </p:txBody>
      </p:sp>
      <p:sp>
        <p:nvSpPr>
          <p:cNvPr id="15" name="Text 13"/>
          <p:cNvSpPr/>
          <p:nvPr/>
        </p:nvSpPr>
        <p:spPr>
          <a:xfrm>
            <a:off x="2103120" y="4014944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patients / studies / series / split 清单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" y="4545296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FDF0F0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46733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tasks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2103120" y="4673312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finetune / retrieval / summary 的统一 JSONL 样本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5203664"/>
            <a:ext cx="7498080" cy="457200"/>
          </a:xfrm>
          <a:prstGeom prst="roundRect">
            <a:avLst>
              <a:gd name="adj" fmla="val 8000"/>
            </a:avLst>
          </a:prstGeom>
          <a:solidFill>
            <a:srgbClr val="EEF1F9"/>
          </a:solidFill>
          <a:ln w="12700">
            <a:solidFill>
              <a:srgbClr val="C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5331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2103120" y="5331680"/>
            <a:ext cx="5925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r>
              <a:rPr lang="zh-CN" alt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与公开</a:t>
            </a: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benchmark 的</a:t>
            </a:r>
            <a:r>
              <a:rPr lang="zh-CN" alt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</a:t>
            </a: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评测集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87968" y="2606768"/>
            <a:ext cx="2176272" cy="749808"/>
          </a:xfrm>
          <a:prstGeom prst="roundRect">
            <a:avLst>
              <a:gd name="adj" fmla="val 4310"/>
            </a:avLst>
          </a:prstGeom>
          <a:solidFill>
            <a:srgbClr val="FDF2F1"/>
          </a:solidFill>
          <a:ln w="12700">
            <a:solidFill>
              <a:srgbClr val="E3D0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97696" y="2698208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不是先做平台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997696" y="2917664"/>
            <a:ext cx="195681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这一页讲的是数据规范，不是要先做一套复杂数据库平台。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900160" y="3530804"/>
            <a:ext cx="2176272" cy="749808"/>
          </a:xfrm>
          <a:prstGeom prst="roundRect">
            <a:avLst>
              <a:gd name="adj" fmla="val 4310"/>
            </a:avLst>
          </a:prstGeom>
          <a:solidFill>
            <a:srgbClr val="EAF7FA"/>
          </a:solidFill>
          <a:ln w="12700">
            <a:solidFill>
              <a:srgbClr val="C8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9888" y="3622243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009888" y="3841699"/>
            <a:ext cx="1956816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先冻结规范和追溯关系，让后面的样本生成与评测可以复现。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900160" y="4513339"/>
            <a:ext cx="2176272" cy="718250"/>
          </a:xfrm>
          <a:prstGeom prst="roundRect">
            <a:avLst>
              <a:gd name="adj" fmla="val 4310"/>
            </a:avLst>
          </a:prstGeom>
          <a:solidFill>
            <a:srgbClr val="EDF8F4"/>
          </a:solidFill>
          <a:ln w="12700">
            <a:solidFill>
              <a:srgbClr val="CBE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09888" y="4604778"/>
            <a:ext cx="1956816" cy="16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直接价值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9009888" y="4824234"/>
            <a:ext cx="1956816" cy="274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</a:t>
            </a:r>
            <a:r>
              <a:rPr lang="en-US" sz="88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训练输入和评测输入</a:t>
            </a:r>
            <a:r>
              <a:rPr lang="zh-CN" altLang="en-US" sz="88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 为后续迭代奠定基础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87434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落地节奏与近期产出</a:t>
            </a:r>
            <a:endParaRPr lang="en-US" sz="2396" dirty="0"/>
          </a:p>
        </p:txBody>
      </p:sp>
      <p:sp>
        <p:nvSpPr>
          <p:cNvPr id="5" name="Text 3"/>
          <p:cNvSpPr/>
          <p:nvPr/>
        </p:nvSpPr>
        <p:spPr>
          <a:xfrm>
            <a:off x="9162288" y="58521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EXECUTION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841248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F0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接数据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1005840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 TextBraTS / BraTS，整理原始影像与文本来源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37560" y="2840790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94176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FF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做结构化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3858768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冻结字段字典，产出统一结构化结果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0488" y="2840790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7104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1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生成统一样本</a:t>
            </a:r>
            <a:endParaRPr lang="en-US" sz="1340" dirty="0"/>
          </a:p>
        </p:txBody>
      </p:sp>
      <p:sp>
        <p:nvSpPr>
          <p:cNvPr id="20" name="Text 18"/>
          <p:cNvSpPr/>
          <p:nvPr/>
        </p:nvSpPr>
        <p:spPr>
          <a:xfrm>
            <a:off x="6711696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把病例转成 finetune-ready 的 JSONL 输入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43416" y="2840790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00032" y="2475030"/>
            <a:ext cx="24231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BE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2603046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 err="1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跑评测</a:t>
            </a:r>
            <a:endParaRPr lang="en-US" sz="1340" dirty="0"/>
          </a:p>
        </p:txBody>
      </p:sp>
      <p:sp>
        <p:nvSpPr>
          <p:cNvPr id="26" name="Text 24"/>
          <p:cNvSpPr/>
          <p:nvPr/>
        </p:nvSpPr>
        <p:spPr>
          <a:xfrm>
            <a:off x="9564624" y="2895654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在固定切分与固定 benchmark </a:t>
            </a:r>
            <a:r>
              <a:rPr lang="en-US" sz="1000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下形成结果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51067" y="4423430"/>
            <a:ext cx="595460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</a:t>
            </a:r>
            <a:r>
              <a:rPr lang="zh-CN" altLang="en-US" sz="4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</a:t>
            </a:r>
            <a:r>
              <a:rPr lang="en-US" altLang="zh-CN" sz="4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infra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752</Words>
  <Application>Microsoft Office PowerPoint</Application>
  <PresentationFormat>宽屏</PresentationFormat>
  <Paragraphs>161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Microsoft YaHei</vt:lpstr>
      <vt:lpstr>Aptos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脑肿瘤 MRI 技术路线主干版</dc:title>
  <dc:subject>脑肿瘤 MRI 技术路线主干版</dc:subject>
  <dc:creator>OpenAI Codex</dc:creator>
  <cp:lastModifiedBy>兆熙 林</cp:lastModifiedBy>
  <cp:revision>11</cp:revision>
  <dcterms:created xsi:type="dcterms:W3CDTF">2026-03-09T10:45:54Z</dcterms:created>
  <dcterms:modified xsi:type="dcterms:W3CDTF">2026-03-09T12:42:44Z</dcterms:modified>
</cp:coreProperties>
</file>