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3" r:id="rId4"/>
    <p:sldId id="268" r:id="rId5"/>
    <p:sldId id="278" r:id="rId6"/>
    <p:sldId id="277" r:id="rId7"/>
    <p:sldId id="270" r:id="rId8"/>
    <p:sldId id="274" r:id="rId9"/>
    <p:sldId id="271" r:id="rId10"/>
    <p:sldId id="272" r:id="rId11"/>
    <p:sldId id="275" r:id="rId12"/>
    <p:sldId id="276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79" autoAdjust="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4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0:47:16.37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0:47:36.89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0:47:42.67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1125 144 24575,'-34'-2'0,"1"-1"0,-57-13 0,14 1 0,38 8 0,14 3 0,1 1 0,-35-2 0,-103-12 0,86 16 0,-83 3 0,115 4 0,-59 17 0,87-19 0,7-3 0,0 1 0,0 0 0,1 1 0,-1 0 0,1 0 0,0 1 0,-1 0 0,2 0 0,-1 1 0,0 0 0,1 0 0,0 0 0,0 1 0,-9 11 0,9-9 0,1 0 0,0 0 0,0 1 0,1 0 0,0 0 0,1 0 0,0 0 0,0 1 0,1-1 0,0 1 0,0 10 0,-2 21 0,4 54 0,1-57 0,-2-5 0,1-14 0,0 1 0,1-1 0,0 0 0,6 22 0,-5-35 0,0 0 0,0 0 0,0 0 0,1 0 0,0 0 0,0-1 0,1 1 0,-1-1 0,1 0 0,0 0 0,0-1 0,1 1 0,0-1 0,-1 0 0,1 0 0,11 6 0,41 27 0,-36-22 0,44 23 0,-44-30 0,0-1 0,1-1 0,1-1 0,-1 0 0,1-2 0,-1-1 0,35 0 0,12 1 0,0 5 0,-37-3 0,46 0 0,-34-4 0,73 11 0,44 7 0,-24-10 0,-6-1 0,-56-2 0,133-5 0,-87-4 0,1031 3 0,-1016 19 0,-35-11 0,20 1 0,92 10 0,-146-19 0,101 13 0,-104-7 0,0-3 0,70-6 0,-20 1 0,1208 2 0,-1305-2 0,-1-1 0,0 0 0,0-1 0,-1 0 0,1-2 0,-1 0 0,27-14 0,30-12 0,113-43 0,-169 67 0,-1 1 0,0-2 0,0 0 0,-1 0 0,0-2 0,0 0 0,-2 0 0,1-1 0,-1-1 0,-1 0 0,0 0 0,-1-1 0,-1-1 0,14-26 0,-18 26 0,-2 1 0,1-1 0,-2 1 0,0-1 0,0 0 0,-2 0 0,0 0 0,0 0 0,-4-18 0,1-24 0,2 28 0,-1 0 0,-2 0 0,-1 0 0,-1 0 0,-13-36 0,15 56 0,0 0 0,-1 1 0,0 0 0,0 0 0,0 1 0,-1-1 0,0 1 0,-1 0 0,0 1 0,0 0 0,-15-11 0,6 6 0,-1 2 0,1 0 0,-1 0 0,-37-11 0,23 12 0,0 1 0,-60-4 0,32 4 0,30 2 0,-44 0 0,-772 6 0,644 17 0,126-18 0,-111 14 0,119-8 0,0-3 0,-74-5 0,22-1 0,-1027 3 0,968 18 0,-2218-19-1365,2381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0:47:47.07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1416 129 24575,'-53'-16'0,"27"14"0,1 1 0,-1 1 0,1 1 0,0 2 0,-1 0 0,1 2 0,1 0 0,-43 16 0,20 1 0,-64 40 0,98-54 0,1 2 0,1-1 0,0 2 0,-15 16 0,-27 24 0,21-21 0,0 1 0,2 2 0,2 0 0,1 3 0,1 0 0,-34 66 0,-80 162 0,7-65 0,78-116 0,41-65 0,1 0 0,1 2 0,1-1 0,0 2 0,2-1 0,0 1 0,-8 29 0,-2 13 0,12-46 0,1 1 0,-4 26 0,2-1 0,-1 0 0,-17 50 0,13-60 0,2 0 0,-11 62 0,19-76 0,-4 22 0,-1 78 0,6-4 0,5 93 0,1-180 0,1 0 0,2 0 0,17 45 0,5 19 0,-22-70 0,1 0 0,1 0 0,0-1 0,14 21 0,7 15 0,-20-42 0,0 0 0,1-1 0,0 0 0,2-1 0,16 16 0,-13-14 0,2 0 0,0-1 0,37 22 0,-45-31 0,0 0 0,1-1 0,-1 0 0,1 0 0,-1-1 0,1-1 0,0 0 0,20 1 0,96-4 0,-53-2 0,104-16 0,-126 19 0,-10 2 0,0-3 0,74-10 0,-60 1 0,-15 3 0,0-2 0,46-15 0,-53 14 0,-23 7 0,-1 0 0,0-1 0,18-8 0,-14 5 0,0 1 0,1 1 0,0 0 0,16-3 0,-20 6 0,0 0 0,-1-1 0,0 0 0,1-1 0,-1 0 0,0 0 0,-1-1 0,1-1 0,15-11 0,11-12 0,-28 24 0,-1 0 0,0-1 0,-1 1 0,1-1 0,-1-1 0,0 1 0,5-9 0,19-27 0,-21 31 0,0-1 0,-1 0 0,9-17 0,57-97 0,-61 102 0,-2-1 0,0 0 0,-2-1 0,0 0 0,-2 0 0,-1-1 0,4-37 0,6-25 0,-10 65 0,-1-1 0,-1 1 0,0-30 0,13-107 0,-16 93 0,-3-78 0,0 133 0,0 1 0,-1-1 0,-7-18 0,5 20 0,2-1 0,0 1 0,0-1 0,-1-16 0,-1-13 0,-11-51 0,1 10 0,-21-43 0,34 111 0,-35-166 0,18 119 0,-12-44 0,12 0 0,16 90 0,0 0 0,-1 0 0,-8-19 0,-4-13 0,14 41 0,-48-163 0,39 140 0,0 1 0,-2 0 0,-29-45 0,3 11 0,26 39 0,0 1 0,-1 1 0,-2 0 0,0 1 0,-1 1 0,-1 0 0,-22-17 0,36 33 0,-1 1 0,0 0 0,1 0 0,-1 0 0,0 1 0,0 0 0,0 0 0,0 0 0,0 0 0,0 1 0,0 0 0,0 0 0,-1 0 0,1 1 0,0-1 0,0 1 0,0 0 0,-6 3 0,-12 4 0,-1 1 0,-33 18 0,24-11 0,-110 63 0,28-2-320,92-60-725,14-11-5781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0:48:00.2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1850 736 24575,'-5'-1'0,"0"0"0,0 0 0,0-1 0,1 0 0,-1 0 0,1 0 0,-1 0 0,1-1 0,-8-5 0,-24-13 0,-19 6 0,-56-9 0,45 11 0,20 3 0,26 4 0,0 2 0,1 0 0,-38-1 0,-104-12 0,38 8 0,-5 0 0,-408 9 0,520 1 0,0 1 0,0 1 0,0 0 0,0 0 0,1 2 0,0 0 0,0 1 0,0 0 0,1 1 0,-1 1 0,2 0 0,-1 1 0,-13 12 0,16-9 0,0 1 0,1 1 0,1 0 0,0 1 0,0 0 0,-11 29 0,-17 30 0,30-61 0,1 0 0,0 1 0,-5 17 0,-17 37 0,25-61 0,-1 0 0,2 1 0,-1-1 0,1 1 0,0 0 0,0-1 0,1 1 0,0 0 0,1 0 0,0 0 0,0 0 0,0 0 0,1 0 0,3 11 0,1 2 0,1 0 0,0-1 0,20 40 0,-20-50 0,0 1 0,0-1 0,1 0 0,1 0 0,0 0 0,0-1 0,0-1 0,1 1 0,13 8 0,-1-3 0,0-1 0,1-1 0,35 14 0,-30-15 0,0-1 0,1-2 0,0 0 0,0-2 0,31 2 0,65 10 0,-66-10 0,-30-4 0,48 1 0,1499-5 0,-1396-19 0,-123 19 0,-9-1 0,-1 2 0,73 11 0,-73-6 0,0-2 0,82-4 0,-77-1 0,98 10 0,-70-2 0,-1-2 0,88-7 0,-36-1 0,589 3 0,-540 18 0,-115-19 0,-17 0 0,-1 1 0,83 12 0,-100-8 0,49 1 0,-50-4 0,52 7 0,-31-1 0,1-3 0,-1-2 0,60-5 0,-8 0 0,474 3 0,-370-19 0,-50 22 0,172-5 0,-176-17 0,-104 13 0,0-3 0,-1-1 0,0-3 0,52-21 0,-95 32 0,1 0 0,0 0 0,-1 0 0,1 0 0,-1-1 0,1 1 0,-1-1 0,0 0 0,0 0 0,-1 0 0,1 0 0,-1-1 0,4-5 0,20-53 0,-1 1 0,-14 42 0,0 1 0,1 0 0,1 1 0,0 0 0,18-16 0,-15 16 0,0 0 0,-1-1 0,13-23 0,17-20 0,-20 28 0,29-51 0,-4 7 0,-30 51 0,1 2 0,2 1 0,0 0 0,35-24 0,36-35 0,-89 75 0,-1 1 0,1 0 0,-1-1 0,-1 0 0,1 0 0,-1 0 0,-1 0 0,1-1 0,-1 1 0,0-1 0,1-14 0,-1 8 0,-1 1 0,-1 0 0,0 0 0,-1-1 0,0 1 0,-4-16 0,2 21 0,0 0 0,0 0 0,-1 0 0,0 0 0,-1 0 0,0 1 0,0 0 0,-7-8 0,-53-51 0,47 49 0,-2 1 0,0 0 0,-1 2 0,-1 0 0,0 1 0,-29-11 0,8 6 0,-1 2 0,0 2 0,-1 2 0,-1 1 0,-55-4 0,-6-1 0,65 8 0,0 3 0,-54-2 0,-272-6 0,269 7 0,-128 6 0,85 3 0,-8-3 0,-196 24 0,-17 4-981,321-26 1066,-123 16-127,100-10 13,-73 2 1,64-6 305,-119 20 0,1 2 60,56-10-301,76-7-2,-89 1 0,-130 8-34,1-5 0,87 5 0,64-12 0,86-6 0,-65 9 0,13 1 0,61-8 0,0 2 0,-47 11 0,50-9 0,1-1 0,-42 2 0,0 0 0,-159 11 0,29 5 0,142-14 0,-26 0 0,32-10 0,10 0 0,0 2 0,-74 10 0,89-7 0,-54 0 0,60-4 0,0 1 0,0 1 0,1 0 0,-41 11 0,21-1 0,-50 6 0,-25 8 0,87-15-1365,16-4-5461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0:48:02.5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701 18 24575,'0'5'0,"0"-1"0,-1 0 0,0 0 0,0 0 0,0 0 0,-1 0 0,1 0 0,-1 0 0,0 0 0,0 0 0,-5 5 0,-34 41 0,8-13 0,-113 155 0,141-185 0,-20 30 0,-37 74 0,-42 128 0,-31 157 0,127-373 0,-15 48 0,6-19 0,1 0 0,-11 77 0,10-49 0,11-61 0,2 1 0,0-1 0,-1 40 0,2 111 0,7 182 0,5-281 0,-5-41 0,1 45 0,-5-18 0,13 100 0,-7-122 0,-1 5 0,2-1 0,22 73 0,-23-91 0,-2 0 0,-1 0 0,-1 1 0,0 0 0,-2-1 0,-4 40 0,2 8 0,2 485 0,11-457 0,-3-33 0,-2-6 0,5 99 0,-9-117 0,1 1 0,12 49 0,2 24 0,-9-58 0,1 31 0,9 56 0,-15-108 0,1-1 0,1 0 0,16 54 0,-2-8 0,-11-54 0,0-1 0,2 1 0,0-2 0,2 1 0,1-1 0,0-1 0,25 31 0,91 122 0,-86-130 0,-16-19 0,-26-25 0,1-1 0,0 1 0,0 0 0,1-1 0,-1 1 0,0-1 0,0 1 0,1-1 0,-1 0 0,1 0 0,-1 0 0,1-1 0,-1 1 0,1-1 0,0 1 0,-1-1 0,1 0 0,0 0 0,-1 0 0,1 0 0,0 0 0,-1-1 0,1 1 0,-1-1 0,1 0 0,-1 1 0,1-1 0,-1 0 0,1-1 0,-1 1 0,0 0 0,1-1 0,-1 1 0,2-3 0,11-8 0,0 0 0,-1-2 0,23-25 0,-18 18 0,12-17 0,-2 0 0,-1-2 0,31-59 0,-24 40 0,-24 39 0,-2 0 0,13-39 0,8-18 0,-13 41 0,-2-1 0,0-1 0,-3 0 0,-1 0 0,-2-2 0,4-43 0,23-148 0,-30 162 0,5-98 0,7-10 0,-21 33 0,6-160 0,5 235 0,-3 28 0,0-45 0,-6-362 0,-17 306 0,18 87 0,1 18 0,-2 0 0,-9-67 0,5 74 0,2 1 0,1-39 0,2 38 0,-1 0 0,-6-34 0,-15-97 0,18 64 0,4 74 0,-1-1 0,0 1 0,-7-31 0,-4-37 0,6 25 0,-1 17 0,5 29 0,-1 0 0,0 0 0,-2 0 0,-7-21 0,8 27 0,0 0 0,1 0 0,1 0 0,0 0 0,1-18 0,-5-33 0,-15-118 0,13 104 0,7 60 0,-1-1 0,0 0 0,-2 1 0,-7-28 0,4 25 0,2-1 0,-4-33 0,4 22 0,-6-15 0,-2 1 0,-3 0 0,-31-68 0,39 96 0,-56-131 0,51 126 0,0 1 0,-2 0 0,-1 1 0,-19-21 0,-31-28 120,60 66-269,0 1 1,-1 0-1,1 0 1,-1 1-1,0 0 1,-1 0-1,1 0 1,0 1-1,-15-4 1,9 5-6678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10:48:06.4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863 288 24575,'0'-1'0,"-1"0"0,1 0 0,-1 0 0,1 0 0,-1 0 0,0 0 0,1 0 0,-1 0 0,0 1 0,0-1 0,1 0 0,-1 0 0,0 1 0,0-1 0,0 1 0,0-1 0,0 1 0,0-1 0,0 1 0,0-1 0,0 1 0,0 0 0,0 0 0,0-1 0,0 1 0,-1 0 0,1 0 0,0 0 0,0 0 0,0 0 0,0 0 0,0 1 0,0-1 0,-2 1 0,-40 7 0,37-6 0,0 1 0,1 0 0,-1 1 0,1-1 0,-1 1 0,1 0 0,0 0 0,0 1 0,1 0 0,-6 6 0,-38 59 0,23-31 0,-187 283 0,96-118 0,105-183 0,1 0 0,1 0 0,-12 41 0,-8 21 0,5-14 0,19-50 0,-2 0 0,0-1 0,-13 26 0,-1-2 0,2 1 0,2 1 0,-18 75 0,34-114 0,-57 235 0,47-162 0,4-20 0,1-4 0,2 1 0,5 104 0,2-51 0,-3 1341 0,19-1270 0,-20 375 0,19-411 0,-18-98 0,3 1 0,8 46 0,-7-49 0,-4-36 0,1 0 0,-1 1 0,1-1 0,0 0 0,1 0 0,0 0 0,0 0 0,1 0 0,-1 0 0,1 0 0,1-1 0,6 11 0,4 1 0,-2 1 0,17 33 0,-19-31 0,2-1 0,20 27 0,-17-30 0,1 0 0,0-1 0,1-1 0,1-1 0,0 0 0,1-1 0,1-1 0,0-1 0,0-1 0,1-1 0,0 0 0,32 7 0,-16-8 0,1-2 0,0-1 0,0-2 0,0-1 0,47-5 0,-3 2 0,-72 0 0,0 0 0,0 0 0,-1-1 0,1-1 0,0 0 0,-1 0 0,1 0 0,9-6 0,73-45 0,-53 29 0,-24 15 0,-1-2 0,-1 0 0,0-1 0,-1 0 0,0-1 0,-1 0 0,11-18 0,5-6 0,-10 13 0,-1-1 0,-2-1 0,14-32 0,12-25 0,-27 59 0,-2 1 0,0-1 0,-2-1 0,-1 0 0,9-44 0,-13 41 0,11-75 0,4-157 0,-19 216 0,-2 14 0,2 0 0,2 1 0,9-55 0,-5 49 0,-2-1 0,-2 0 0,-1 1 0,-5-43 0,2-11 0,2-339 0,19 286 0,-20-1074 0,-18 1092 0,1-17 0,-18-55 0,19 131 0,13 54 0,0 0 0,1-1 0,0 1 0,-1-16 0,0-14 0,-14-57 0,4 25 0,-13-31 0,2 11 0,14 51 0,-30-81 0,5 22 0,6 14 0,15 47 0,-14-61 0,22 76 0,0 0 0,-17-37 0,17 45 0,-15-48 0,16 46 0,0 1 0,-1 0 0,-14-27 0,12 29 0,-1 2 0,0-1 0,-1 1 0,-19-20 0,25 30 0,0 0 0,-1 1 0,0 0 0,1 0 0,-1 1 0,-1 0 0,1 0 0,0 0 0,-1 1 0,0-1 0,1 2 0,-1-1 0,0 1 0,0 0 0,-9 0 0,7 1 0,1 0 0,-1 1 0,1 0 0,0 0 0,0 1 0,0 0 0,0 0 0,0 1 0,0 0 0,-11 6 0,-2 4 0,1 1 0,-23 19 0,-17 12 0,48-38-1365,0-2-5461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73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0B01-8A1E-5DF8-6CED-3872FD93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5FBD1-97DD-9436-559A-55A70DE19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28706-8A72-A753-9332-89F5E2D28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4B20A-0EC8-6148-12DD-C5935F375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81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15C2-9781-E8F7-947A-AC8D8024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4C475-628B-F212-F188-4849D4C6F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63AEB-3610-514C-B385-B6C262F27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0464C-EF45-D9FC-9CBD-248F39C03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22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50AE-0277-A7A4-F12F-B59495C8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4E43F-5032-0DFA-6742-9DA30F112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BDE4B-A53A-FF1A-E835-32E48D0B6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D23A5-1D62-9B34-DF5A-27610CB76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8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1E835-2ECD-38FD-EC05-732E7332B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D1CE1-EACA-25CB-FC2C-EE14ED8E2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709FD-47C6-EA8B-100F-8812D1C27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701AC-3B62-49AA-BA3F-78B5E93D79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3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FEC7-5BDA-CFB2-BA57-77FC7C0E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9F466-F5BC-57FE-8EB3-5B441C7F1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687B0-BE78-821C-BA7D-D4C5B6D3D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98534-A398-391E-BF07-8BA0E7173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0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C11B-0065-7024-872B-4A925A21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358BC-93E2-4A80-28B6-B4ADC04BE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EBAA8-62F9-449F-33BE-F47E07268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2C90D-54EC-F663-2CA2-DB2B304F2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68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FC34-7783-DC2B-DEDC-C68A4712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72F0B-11BE-6A43-F9F9-E32DEAE3C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B4A97-389D-1D35-D0DF-ED74824C5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9CFD3-F768-6082-A91D-A6515E495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08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6336-671D-692E-2C03-2FE19780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A3F14-645D-5F0C-4704-45F2B650A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3F7C6-9BD4-F5F5-9364-0024D5409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EF8B7-65ED-E07E-0BE0-0917CC672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89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772A-2B12-D843-E480-8F5A8C42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82A05-5A21-2B2B-8E46-093DFE3E7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D0258-1540-5EBD-702F-083410377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9F87F-D7CC-666A-B93A-A4A0B6815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65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BF83-8AE2-1564-0501-E0EAB316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52F60-02BB-5748-D5EB-B79C9281E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31CE6-3CE8-DDC9-96AF-FB7BF7A68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C0DDD-A152-8119-F020-5869535AA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74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76656" y="841248"/>
            <a:ext cx="109728" cy="4572000"/>
          </a:xfrm>
          <a:prstGeom prst="rect">
            <a:avLst/>
          </a:prstGeom>
          <a:solidFill>
            <a:srgbClr val="1A8EA8"/>
          </a:solidFill>
          <a:ln w="12700">
            <a:solidFill>
              <a:srgbClr val="1A8E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94604" y="2348591"/>
            <a:ext cx="56373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</a:t>
            </a:r>
            <a:r>
              <a:rPr lang="zh-CN" altLang="en-US" sz="36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出血智能诊疗</a:t>
            </a:r>
            <a:r>
              <a:rPr lang="en-US" sz="3600" b="1" dirty="0" err="1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r>
              <a:rPr lang="zh-CN" altLang="en-US" sz="36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16360" y="4755285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D8F0F4"/>
          </a:solidFill>
          <a:ln w="12700">
            <a:solidFill>
              <a:srgbClr val="D8F0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16360" y="4805577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8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原始设想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168504" y="4755285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DFF3EA"/>
          </a:solidFill>
          <a:ln w="12700">
            <a:solidFill>
              <a:srgbClr val="DFF3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168504" y="4805577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收敛判断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320648" y="4755285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FF1DB"/>
          </a:solidFill>
          <a:ln w="12700">
            <a:solidFill>
              <a:srgbClr val="FFF1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320648" y="4805577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数据主线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72792" y="4755285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EFF1FA"/>
          </a:solidFill>
          <a:ln w="12700">
            <a:solidFill>
              <a:srgbClr val="EFF1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72792" y="4805577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多模态微调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807816" y="4755285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BE7E5"/>
          </a:solidFill>
          <a:ln w="12700">
            <a:solidFill>
              <a:srgbClr val="FBE7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807816" y="4805577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可信评测</a:t>
            </a:r>
            <a:endParaRPr lang="en-US" sz="92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3322E9B-1462-CA7C-9AEA-39DFBEDB57E5}"/>
              </a:ext>
            </a:extLst>
          </p:cNvPr>
          <p:cNvSpPr/>
          <p:nvPr/>
        </p:nvSpPr>
        <p:spPr>
          <a:xfrm>
            <a:off x="10161430" y="5806741"/>
            <a:ext cx="174938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96" dirty="0" err="1"/>
              <a:t>zhaoxi.lin</a:t>
            </a:r>
            <a:endParaRPr lang="en-US" altLang="zh-CN" sz="26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原始设想与问题背景</a:t>
            </a:r>
            <a:endParaRPr lang="en-US" sz="2396" dirty="0"/>
          </a:p>
        </p:txBody>
      </p:sp>
      <p:sp>
        <p:nvSpPr>
          <p:cNvPr id="6" name="Shape 4"/>
          <p:cNvSpPr/>
          <p:nvPr/>
        </p:nvSpPr>
        <p:spPr>
          <a:xfrm>
            <a:off x="786384" y="1828800"/>
            <a:ext cx="2926080" cy="2029968"/>
          </a:xfrm>
          <a:prstGeom prst="roundRect">
            <a:avLst>
              <a:gd name="adj" fmla="val 2703"/>
            </a:avLst>
          </a:prstGeom>
          <a:solidFill>
            <a:srgbClr val="D8F0F4">
              <a:alpha val="94000"/>
            </a:srgbClr>
          </a:solidFill>
          <a:ln w="12700">
            <a:solidFill>
              <a:srgbClr val="D8F0F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96112" y="193852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大规模异构数据库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905256" y="2176272"/>
            <a:ext cx="268833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术前诊疗报告 / 医学影像 / 康复随访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脱敏、样本对齐、预处理、存储、语料整理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858768" y="2651760"/>
            <a:ext cx="329184" cy="384048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315968" y="1828800"/>
            <a:ext cx="2926080" cy="2029968"/>
          </a:xfrm>
          <a:prstGeom prst="roundRect">
            <a:avLst>
              <a:gd name="adj" fmla="val 2703"/>
            </a:avLst>
          </a:prstGeom>
          <a:solidFill>
            <a:srgbClr val="FFF1DB">
              <a:alpha val="94000"/>
            </a:srgbClr>
          </a:solidFill>
          <a:ln w="12700">
            <a:solidFill>
              <a:srgbClr val="FFF1D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425696" y="193852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影像-文本特征抽取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434840" y="2176272"/>
            <a:ext cx="268833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 / MRI 影像特征网络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关键特征词、三元组与相似度特征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388352" y="2651760"/>
            <a:ext cx="329184" cy="384048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845552" y="1828800"/>
            <a:ext cx="3566160" cy="2029968"/>
          </a:xfrm>
          <a:prstGeom prst="roundRect">
            <a:avLst>
              <a:gd name="adj" fmla="val 2703"/>
            </a:avLst>
          </a:prstGeom>
          <a:solidFill>
            <a:srgbClr val="EFF1FA">
              <a:alpha val="94000"/>
            </a:srgbClr>
          </a:solidFill>
          <a:ln w="12700">
            <a:solidFill>
              <a:srgbClr val="EFF1F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55280" y="193852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诊断-治疗-康复大模型与微调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964424" y="2176272"/>
            <a:ext cx="332841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Qwen3-VL 的神经外科诊疗模型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 + 参数高效微调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719471" y="4899965"/>
            <a:ext cx="4021913" cy="665019"/>
          </a:xfrm>
          <a:prstGeom prst="roundRect">
            <a:avLst>
              <a:gd name="adj" fmla="val 4310"/>
            </a:avLst>
          </a:prstGeom>
          <a:solidFill>
            <a:srgbClr val="FDF2F1"/>
          </a:solidFill>
          <a:ln w="12700">
            <a:solidFill>
              <a:srgbClr val="E2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876288" y="501362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 err="1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876288" y="5291883"/>
            <a:ext cx="3420115" cy="27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远期蓝图，不适合直接作为第一阶段执行方案</a:t>
            </a:r>
            <a:r>
              <a:rPr lang="en-US" sz="1100" b="1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b="1" dirty="0"/>
          </a:p>
        </p:txBody>
      </p:sp>
      <p:sp>
        <p:nvSpPr>
          <p:cNvPr id="20" name="Text 18"/>
          <p:cNvSpPr/>
          <p:nvPr/>
        </p:nvSpPr>
        <p:spPr>
          <a:xfrm>
            <a:off x="786384" y="4899965"/>
            <a:ext cx="4303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 err="1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</a:t>
            </a:r>
            <a:r>
              <a:rPr lang="zh-CN" altLang="en-US" sz="12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设想较为粗糙，</a:t>
            </a:r>
            <a:r>
              <a:rPr lang="en-US" sz="1220" b="1" dirty="0" err="1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起点过大</a:t>
            </a:r>
            <a:r>
              <a:rPr lang="zh-CN" altLang="en-US" sz="12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、重复造轮子、任务覆盖大</a:t>
            </a:r>
            <a:endParaRPr lang="en-US" sz="122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7EC4B66E-F8B8-583A-A320-8793333EBC78}"/>
              </a:ext>
            </a:extLst>
          </p:cNvPr>
          <p:cNvSpPr/>
          <p:nvPr/>
        </p:nvSpPr>
        <p:spPr>
          <a:xfrm>
            <a:off x="914400" y="2648766"/>
            <a:ext cx="2688336" cy="106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构建面向神经外科疾病的大规模诊疗异构数据库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项目拟构建包括患者术前诊疗报告、医学影像、康复随访的诊疗数据库，研究数据脱敏及数据样本对齐方法，构建患者医学影像数据的预处理及存储技术，建立患者诊疗报告、术后随访等文本数据的临床语料数据库，并进行训练集</a:t>
            </a:r>
            <a:r>
              <a:rPr lang="en-US" altLang="zh-CN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测试集划分，从而为本项目的开展提供坚实的数据基础。</a:t>
            </a:r>
            <a:endParaRPr lang="en-US" sz="94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2A37EA9-D754-B660-2C86-CD63075111A0}"/>
              </a:ext>
            </a:extLst>
          </p:cNvPr>
          <p:cNvSpPr txBox="1"/>
          <p:nvPr/>
        </p:nvSpPr>
        <p:spPr>
          <a:xfrm>
            <a:off x="4434840" y="2628156"/>
            <a:ext cx="2688336" cy="110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研究影像-文本多模态信息的特征抽取方法。针对术前CT影像、MRI影像等影像学信息，构建</a:t>
            </a:r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基于空间注意力机制的影像特征提取网络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，将病灶特征、水肿区域、病理特点映射为高维特征向量。针对诊断报告、随访报告等文本信息，建立基于</a:t>
            </a:r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关键特征词的语义映射表，提出基于三元组特征和相似度特征的语义特征提取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方法。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C74715-59B6-5FD5-33BD-3158880564E3}"/>
              </a:ext>
            </a:extLst>
          </p:cNvPr>
          <p:cNvSpPr txBox="1"/>
          <p:nvPr/>
        </p:nvSpPr>
        <p:spPr>
          <a:xfrm>
            <a:off x="7955280" y="2555828"/>
            <a:ext cx="3346704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建立患者诊断-治疗-康复的智能大模型及微调方法。综合患者术前诊疗数据的特征，建立基于Qwen3-VL的神经外科疾病智能诊断大模型，构建基于向量距离置信度的特征权重融合方法，实现术前多模态信息的融合。以此为基础，针对神经外科疾病</a:t>
            </a:r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术前诊断、术中指导、术后康复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等多下游临床任务，建立基于低秩混合矩阵的大模型微调框架，实现资源受限时的模型参数高效微调，</a:t>
            </a:r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最终实现神经外科疾病的智能诊疗。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7EB5B82-F929-2DC3-4359-2A161ECCA910}"/>
              </a:ext>
            </a:extLst>
          </p:cNvPr>
          <p:cNvCxnSpPr/>
          <p:nvPr/>
        </p:nvCxnSpPr>
        <p:spPr>
          <a:xfrm flipV="1">
            <a:off x="2524715" y="2887238"/>
            <a:ext cx="0" cy="1943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00C5229-CC3F-8252-6E40-FA6AFE0F4B3F}"/>
              </a:ext>
            </a:extLst>
          </p:cNvPr>
          <p:cNvCxnSpPr>
            <a:cxnSpLocks/>
          </p:cNvCxnSpPr>
          <p:nvPr/>
        </p:nvCxnSpPr>
        <p:spPr>
          <a:xfrm flipV="1">
            <a:off x="3751575" y="3035808"/>
            <a:ext cx="683265" cy="1864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84608C6-25E6-D10C-8B3C-7BD965D0129F}"/>
              </a:ext>
            </a:extLst>
          </p:cNvPr>
          <p:cNvCxnSpPr>
            <a:cxnSpLocks/>
          </p:cNvCxnSpPr>
          <p:nvPr/>
        </p:nvCxnSpPr>
        <p:spPr>
          <a:xfrm flipV="1">
            <a:off x="4631436" y="3785616"/>
            <a:ext cx="772135" cy="110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A59502D-C5CD-75D1-D419-4EB9E1CBCC9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089890" y="3356762"/>
            <a:ext cx="4021913" cy="1662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545C70B-3EFA-C7FA-77C4-F31FC608DB54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089890" y="3657975"/>
            <a:ext cx="4981389" cy="1360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85207-581C-3D81-7441-74DAFA4D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2">
            <a:extLst>
              <a:ext uri="{FF2B5EF4-FFF2-40B4-BE49-F238E27FC236}">
                <a16:creationId xmlns:a16="http://schemas.microsoft.com/office/drawing/2014/main" id="{07B2D586-AF95-11C4-E813-AE3DB063D546}"/>
              </a:ext>
            </a:extLst>
          </p:cNvPr>
          <p:cNvSpPr/>
          <p:nvPr/>
        </p:nvSpPr>
        <p:spPr>
          <a:xfrm>
            <a:off x="8042704" y="2317212"/>
            <a:ext cx="3880975" cy="937645"/>
          </a:xfrm>
          <a:prstGeom prst="roundRect">
            <a:avLst>
              <a:gd name="adj" fmla="val 5455"/>
            </a:avLst>
          </a:prstGeom>
          <a:solidFill>
            <a:srgbClr val="FFF1DB">
              <a:alpha val="94000"/>
            </a:srgbClr>
          </a:solidFill>
          <a:ln w="12700">
            <a:solidFill>
              <a:srgbClr val="FFF1D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9FA2CB6-276B-5D67-A76C-09D2AB90E924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86DCFE-42BE-0258-05E0-89B82CD30A83}"/>
              </a:ext>
            </a:extLst>
          </p:cNvPr>
          <p:cNvSpPr/>
          <p:nvPr/>
        </p:nvSpPr>
        <p:spPr>
          <a:xfrm>
            <a:off x="306324" y="33267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96" dirty="0"/>
              <a:t>脑出血诊断流程</a:t>
            </a:r>
            <a:endParaRPr lang="en-US" sz="2396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2D9508EC-74F6-7465-E02E-AB9F706972A9}"/>
              </a:ext>
            </a:extLst>
          </p:cNvPr>
          <p:cNvSpPr/>
          <p:nvPr/>
        </p:nvSpPr>
        <p:spPr>
          <a:xfrm>
            <a:off x="371759" y="1744170"/>
            <a:ext cx="2076559" cy="2219815"/>
          </a:xfrm>
          <a:prstGeom prst="roundRect">
            <a:avLst>
              <a:gd name="adj" fmla="val 5455"/>
            </a:avLst>
          </a:prstGeom>
          <a:solidFill>
            <a:srgbClr val="D8F0F4">
              <a:alpha val="94000"/>
            </a:srgbClr>
          </a:solidFill>
          <a:ln w="12700">
            <a:solidFill>
              <a:srgbClr val="D8F0F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A6A74A17-F860-8514-BF53-3EA1375592C9}"/>
              </a:ext>
            </a:extLst>
          </p:cNvPr>
          <p:cNvSpPr/>
          <p:nvPr/>
        </p:nvSpPr>
        <p:spPr>
          <a:xfrm>
            <a:off x="605366" y="1932719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入院症状</a:t>
            </a:r>
            <a:endParaRPr lang="en-US" sz="14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403E40FA-58EC-AE60-D8F8-EEC42D91749D}"/>
              </a:ext>
            </a:extLst>
          </p:cNvPr>
          <p:cNvSpPr/>
          <p:nvPr/>
        </p:nvSpPr>
        <p:spPr>
          <a:xfrm>
            <a:off x="444911" y="2074226"/>
            <a:ext cx="2249424" cy="18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突发偏瘫或偏身无力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突发失语或言语不清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突发偏身感觉减退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突发剧烈头痛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恶心、呕吐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抽搐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嗜睡、意识障碍或昏迷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血压明显升高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FE69777A-5B16-E785-2F8B-EEB867CA6DAB}"/>
              </a:ext>
            </a:extLst>
          </p:cNvPr>
          <p:cNvSpPr/>
          <p:nvPr/>
        </p:nvSpPr>
        <p:spPr>
          <a:xfrm>
            <a:off x="2522667" y="2666683"/>
            <a:ext cx="274320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111EAE8E-C250-76B0-45E2-9B58357E5149}"/>
              </a:ext>
            </a:extLst>
          </p:cNvPr>
          <p:cNvSpPr/>
          <p:nvPr/>
        </p:nvSpPr>
        <p:spPr>
          <a:xfrm>
            <a:off x="2847496" y="1731974"/>
            <a:ext cx="4004092" cy="3650203"/>
          </a:xfrm>
          <a:prstGeom prst="roundRect">
            <a:avLst>
              <a:gd name="adj" fmla="val 5455"/>
            </a:avLst>
          </a:prstGeom>
          <a:solidFill>
            <a:srgbClr val="DFF3EA">
              <a:alpha val="94000"/>
            </a:srgbClr>
          </a:solidFill>
          <a:ln w="12700">
            <a:solidFill>
              <a:srgbClr val="DFF3E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6B8F322F-0BAC-EE08-455F-A4C83143F110}"/>
              </a:ext>
            </a:extLst>
          </p:cNvPr>
          <p:cNvSpPr/>
          <p:nvPr/>
        </p:nvSpPr>
        <p:spPr>
          <a:xfrm>
            <a:off x="2957225" y="238729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8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F217A316-307B-370E-FB2C-BE72085E699A}"/>
              </a:ext>
            </a:extLst>
          </p:cNvPr>
          <p:cNvSpPr/>
          <p:nvPr/>
        </p:nvSpPr>
        <p:spPr>
          <a:xfrm>
            <a:off x="3124103" y="2190209"/>
            <a:ext cx="3383388" cy="181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评估气道、呼吸、循环，即 </a:t>
            </a:r>
            <a:r>
              <a:rPr lang="en-US" altLang="zh-CN" sz="1200" dirty="0"/>
              <a:t>ABC</a:t>
            </a:r>
            <a:r>
              <a:rPr lang="zh-CN" altLang="en-US" sz="1200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记录血压、心率、血氧、体温。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做指尖血糖，排除低血糖模拟卒中。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明确发病时间，或记录“最后一次正常时间”。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快速采集既往史，包括高血压、既往卒中、脑血管畸形、肿瘤、肝病、血液病。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记录用药史，重点是华法林、直接口服抗凝药、肝素、阿司匹林、氯吡格雷等。</a:t>
            </a:r>
          </a:p>
          <a:p>
            <a:pPr marL="0" indent="0" algn="ctr">
              <a:buNone/>
            </a:pPr>
            <a:endParaRPr lang="en-US" sz="94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A016B0E8-C1A4-8DD0-88AC-980B2ABA96FD}"/>
              </a:ext>
            </a:extLst>
          </p:cNvPr>
          <p:cNvSpPr/>
          <p:nvPr/>
        </p:nvSpPr>
        <p:spPr>
          <a:xfrm rot="5400000">
            <a:off x="9740005" y="3422143"/>
            <a:ext cx="522948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B806026C-0220-19A8-4AC1-53030951090B}"/>
              </a:ext>
            </a:extLst>
          </p:cNvPr>
          <p:cNvSpPr/>
          <p:nvPr/>
        </p:nvSpPr>
        <p:spPr>
          <a:xfrm>
            <a:off x="8108485" y="3963986"/>
            <a:ext cx="3680266" cy="1228451"/>
          </a:xfrm>
          <a:prstGeom prst="roundRect">
            <a:avLst>
              <a:gd name="adj" fmla="val 5455"/>
            </a:avLst>
          </a:prstGeom>
          <a:solidFill>
            <a:srgbClr val="EFF1FA">
              <a:alpha val="94000"/>
            </a:srgbClr>
          </a:solidFill>
          <a:ln w="12700">
            <a:solidFill>
              <a:srgbClr val="EFF1F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AA8DF530-12A8-01BF-227D-9886EC05B9C4}"/>
              </a:ext>
            </a:extLst>
          </p:cNvPr>
          <p:cNvSpPr/>
          <p:nvPr/>
        </p:nvSpPr>
        <p:spPr>
          <a:xfrm>
            <a:off x="4042149" y="1913991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急诊卒中通道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9FE49CA7-B4FB-D881-D324-52787D2FD674}"/>
              </a:ext>
            </a:extLst>
          </p:cNvPr>
          <p:cNvSpPr/>
          <p:nvPr/>
        </p:nvSpPr>
        <p:spPr>
          <a:xfrm>
            <a:off x="6912983" y="2654672"/>
            <a:ext cx="1016617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A3E6F92A-E0B9-9199-35D3-5EE3FBE08B09}"/>
              </a:ext>
            </a:extLst>
          </p:cNvPr>
          <p:cNvSpPr/>
          <p:nvPr/>
        </p:nvSpPr>
        <p:spPr>
          <a:xfrm>
            <a:off x="3014375" y="4242220"/>
            <a:ext cx="374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200" dirty="0"/>
              <a:t>三个基线：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意识水平：常用 </a:t>
            </a:r>
            <a:r>
              <a:rPr lang="en-US" altLang="zh-CN" sz="1200" dirty="0"/>
              <a:t>GCS</a:t>
            </a:r>
            <a:r>
              <a:rPr lang="zh-CN" altLang="en-US" sz="1200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神经功能缺损程度：常用 </a:t>
            </a:r>
            <a:r>
              <a:rPr lang="en-US" altLang="zh-CN" sz="1200" dirty="0"/>
              <a:t>NIHSS</a:t>
            </a:r>
            <a:r>
              <a:rPr lang="zh-CN" altLang="en-US" sz="1200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是否存在脑疝征象、脑干受压体征或病情快速恶化。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65852215-C969-D408-F77E-FB6C2886A889}"/>
              </a:ext>
            </a:extLst>
          </p:cNvPr>
          <p:cNvSpPr/>
          <p:nvPr/>
        </p:nvSpPr>
        <p:spPr>
          <a:xfrm>
            <a:off x="9262692" y="2408221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首轮影像扫描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AD0BBE14-B37E-307C-A6F1-C75BDE3DF459}"/>
              </a:ext>
            </a:extLst>
          </p:cNvPr>
          <p:cNvSpPr/>
          <p:nvPr/>
        </p:nvSpPr>
        <p:spPr>
          <a:xfrm>
            <a:off x="4042149" y="3851614"/>
            <a:ext cx="1609345" cy="40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急诊神经系统查体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A5DDC1BE-54FC-AEF5-12EF-79446C5837AA}"/>
              </a:ext>
            </a:extLst>
          </p:cNvPr>
          <p:cNvSpPr/>
          <p:nvPr/>
        </p:nvSpPr>
        <p:spPr>
          <a:xfrm>
            <a:off x="6881414" y="2111687"/>
            <a:ext cx="1048186" cy="52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医生判断为疑似脑出血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DBD55F19-3896-8C18-F260-26D3540CAAEE}"/>
              </a:ext>
            </a:extLst>
          </p:cNvPr>
          <p:cNvSpPr/>
          <p:nvPr/>
        </p:nvSpPr>
        <p:spPr>
          <a:xfrm>
            <a:off x="8291497" y="2523707"/>
            <a:ext cx="3383388" cy="797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对于疑似脑出血患者，急诊</a:t>
            </a:r>
            <a:r>
              <a:rPr lang="zh-CN" altLang="en-US" sz="1200" b="1" dirty="0">
                <a:solidFill>
                  <a:srgbClr val="FF0000"/>
                </a:solidFill>
              </a:rPr>
              <a:t>平扫 </a:t>
            </a:r>
            <a:r>
              <a:rPr lang="en-US" altLang="zh-CN" sz="1200" b="1" dirty="0">
                <a:solidFill>
                  <a:srgbClr val="FF0000"/>
                </a:solidFill>
              </a:rPr>
              <a:t>CT </a:t>
            </a:r>
            <a:r>
              <a:rPr lang="zh-CN" altLang="en-US" sz="1200" dirty="0"/>
              <a:t>为首选，因为速度快、可及性高、对急性出血识别可靠。</a:t>
            </a:r>
            <a:endParaRPr lang="en-US" sz="1200" dirty="0"/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7F712BB3-AD28-FA30-5181-F14C853C0133}"/>
              </a:ext>
            </a:extLst>
          </p:cNvPr>
          <p:cNvSpPr/>
          <p:nvPr/>
        </p:nvSpPr>
        <p:spPr>
          <a:xfrm>
            <a:off x="9196807" y="407042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首轮影像确诊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BA7FC758-3CD9-0279-BC2F-DB8864BA1E28}"/>
              </a:ext>
            </a:extLst>
          </p:cNvPr>
          <p:cNvSpPr/>
          <p:nvPr/>
        </p:nvSpPr>
        <p:spPr>
          <a:xfrm>
            <a:off x="4190847" y="1023904"/>
            <a:ext cx="1311948" cy="52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引入</a:t>
            </a:r>
            <a:r>
              <a:rPr lang="en-US" altLang="zh-CN" sz="1100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100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处，</a:t>
            </a:r>
            <a:endParaRPr lang="en-US" altLang="zh-CN" sz="1100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急诊分诊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7381C16A-7644-5FCA-D74C-279D0B0F1BC0}"/>
              </a:ext>
            </a:extLst>
          </p:cNvPr>
          <p:cNvCxnSpPr>
            <a:stCxn id="61" idx="1"/>
            <a:endCxn id="34" idx="0"/>
          </p:cNvCxnSpPr>
          <p:nvPr/>
        </p:nvCxnSpPr>
        <p:spPr>
          <a:xfrm rot="10800000" flipV="1">
            <a:off x="2591247" y="1286709"/>
            <a:ext cx="1599600" cy="1379973"/>
          </a:xfrm>
          <a:prstGeom prst="bentConnector2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818EE83D-5F0F-31BF-CD8E-A8961BBA296B}"/>
              </a:ext>
            </a:extLst>
          </p:cNvPr>
          <p:cNvCxnSpPr>
            <a:cxnSpLocks/>
            <a:stCxn id="61" idx="3"/>
            <a:endCxn id="57" idx="0"/>
          </p:cNvCxnSpPr>
          <p:nvPr/>
        </p:nvCxnSpPr>
        <p:spPr>
          <a:xfrm>
            <a:off x="5502795" y="1286710"/>
            <a:ext cx="1902712" cy="824977"/>
          </a:xfrm>
          <a:prstGeom prst="bentConnector2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10">
            <a:extLst>
              <a:ext uri="{FF2B5EF4-FFF2-40B4-BE49-F238E27FC236}">
                <a16:creationId xmlns:a16="http://schemas.microsoft.com/office/drawing/2014/main" id="{13B8046E-63DC-0E3F-9F2B-D3A31DEB2A51}"/>
              </a:ext>
            </a:extLst>
          </p:cNvPr>
          <p:cNvSpPr/>
          <p:nvPr/>
        </p:nvSpPr>
        <p:spPr>
          <a:xfrm>
            <a:off x="8256924" y="4533363"/>
            <a:ext cx="3383388" cy="53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同步其余指标：血常规、血小板、</a:t>
            </a:r>
            <a:r>
              <a:rPr lang="en-US" altLang="zh-CN" sz="1200" dirty="0"/>
              <a:t>PT/INR/APTT</a:t>
            </a:r>
            <a:r>
              <a:rPr lang="zh-CN" altLang="en-US" sz="1200" dirty="0"/>
              <a:t>、肝肾功能、电解质、血糖、</a:t>
            </a:r>
            <a:r>
              <a:rPr lang="en-US" altLang="zh-CN" sz="1200" dirty="0"/>
              <a:t>ECG/</a:t>
            </a:r>
            <a:r>
              <a:rPr lang="zh-CN" altLang="en-US" sz="1200" dirty="0"/>
              <a:t>肌钙蛋白</a:t>
            </a:r>
            <a:endParaRPr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医生确诊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90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E829-1532-10B1-05EA-8B5C808E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A0A7BB-3AB9-EC05-C05F-D21EF2054C94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7541B7-069C-07FE-8207-95521845799C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5A2C32-017A-D897-876C-B51EF654402B}"/>
              </a:ext>
            </a:extLst>
          </p:cNvPr>
          <p:cNvSpPr/>
          <p:nvPr/>
        </p:nvSpPr>
        <p:spPr>
          <a:xfrm>
            <a:off x="483904" y="487037"/>
            <a:ext cx="59872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MLLM </a:t>
            </a:r>
            <a:r>
              <a:rPr lang="zh-CN" altLang="en-US" dirty="0"/>
              <a:t>多模态大模型的近期医疗应用</a:t>
            </a:r>
            <a:endParaRPr lang="en-US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2CC63E3-A9B5-243C-7898-B181AC6F7024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D5BF896-F93E-C710-44DF-63D8761C03CD}"/>
              </a:ext>
            </a:extLst>
          </p:cNvPr>
          <p:cNvSpPr txBox="1"/>
          <p:nvPr/>
        </p:nvSpPr>
        <p:spPr>
          <a:xfrm>
            <a:off x="355627" y="1182994"/>
            <a:ext cx="114542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altLang="zh-CN" b="1" dirty="0"/>
              <a:t>MRI</a:t>
            </a:r>
            <a:r>
              <a:rPr lang="zh-CN" altLang="en-US" b="1" dirty="0"/>
              <a:t>报告（文本） </a:t>
            </a:r>
            <a:r>
              <a:rPr lang="en-US" altLang="zh-CN" b="1" dirty="0"/>
              <a:t>-&gt; </a:t>
            </a:r>
            <a:r>
              <a:rPr lang="zh-CN" altLang="en-US" b="1" dirty="0"/>
              <a:t>治疗建议</a:t>
            </a:r>
            <a:endParaRPr lang="en-US" altLang="zh-CN" b="1" dirty="0"/>
          </a:p>
          <a:p>
            <a:r>
              <a:rPr lang="en-US" altLang="zh-CN" sz="1200" dirty="0"/>
              <a:t>Evaluating Large Language Models in Interpreting MRI Reports and Recommending Treatment for Vestibular Schwannoma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04D4DBD-E6BD-A530-FC37-D04B53889C2B}"/>
              </a:ext>
            </a:extLst>
          </p:cNvPr>
          <p:cNvSpPr txBox="1"/>
          <p:nvPr/>
        </p:nvSpPr>
        <p:spPr>
          <a:xfrm>
            <a:off x="355626" y="1825652"/>
            <a:ext cx="8389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输入：</a:t>
            </a:r>
            <a:r>
              <a:rPr lang="en-US" altLang="zh-CN" sz="1200" dirty="0"/>
              <a:t>35</a:t>
            </a:r>
            <a:r>
              <a:rPr lang="zh-CN" altLang="en-US" sz="1200" dirty="0"/>
              <a:t>例前庭神经鞘瘤病例，给模型提了</a:t>
            </a:r>
            <a:r>
              <a:rPr lang="en-US" altLang="zh-CN" sz="1200" dirty="0"/>
              <a:t>5</a:t>
            </a:r>
            <a:r>
              <a:rPr lang="zh-CN" altLang="en-US" sz="1200" dirty="0"/>
              <a:t>类标准问题，包括“最优治疗”“是否建议手术”。</a:t>
            </a:r>
            <a:endParaRPr lang="en-US" altLang="zh-CN" sz="1200" dirty="0"/>
          </a:p>
          <a:p>
            <a:r>
              <a:rPr lang="zh-CN" altLang="en-US" sz="1200" dirty="0"/>
              <a:t>本身任务：输出治疗建议准确率大约</a:t>
            </a:r>
            <a:r>
              <a:rPr lang="en-US" altLang="zh-CN" sz="1200" dirty="0"/>
              <a:t>57.1%</a:t>
            </a:r>
            <a:r>
              <a:rPr lang="zh-CN" altLang="en-US" sz="1200" dirty="0"/>
              <a:t>，手术推荐正确率约</a:t>
            </a:r>
            <a:r>
              <a:rPr lang="en-US" altLang="zh-CN" sz="1200" dirty="0"/>
              <a:t>60%</a:t>
            </a:r>
            <a:r>
              <a:rPr lang="zh-CN" altLang="en-US" sz="1200" dirty="0"/>
              <a:t>，文中明确</a:t>
            </a:r>
            <a:r>
              <a:rPr lang="zh-CN" altLang="en-US" sz="1200" b="1" dirty="0"/>
              <a:t>治疗建议不如医生</a:t>
            </a:r>
            <a:endParaRPr lang="zh-CN" altLang="en-US" sz="10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BDBE3A-E5E8-64DD-35D6-710C805DAED6}"/>
              </a:ext>
            </a:extLst>
          </p:cNvPr>
          <p:cNvSpPr txBox="1"/>
          <p:nvPr/>
        </p:nvSpPr>
        <p:spPr>
          <a:xfrm>
            <a:off x="355626" y="2375977"/>
            <a:ext cx="114542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2.</a:t>
            </a:r>
            <a:r>
              <a:rPr lang="zh-CN" altLang="en-US" b="1" dirty="0"/>
              <a:t>神经肿瘤病例（文本） </a:t>
            </a:r>
            <a:r>
              <a:rPr lang="en-US" altLang="zh-CN" b="1" dirty="0"/>
              <a:t>-&gt;</a:t>
            </a:r>
            <a:r>
              <a:rPr lang="zh-CN" altLang="en-US" b="1" dirty="0"/>
              <a:t>管理计划</a:t>
            </a:r>
            <a:endParaRPr lang="en-US" altLang="zh-CN" b="1" dirty="0"/>
          </a:p>
          <a:p>
            <a:r>
              <a:rPr lang="en-US" altLang="zh-CN" sz="1200" dirty="0"/>
              <a:t>Evaluating large language models in neuro-oncology: A comparative study of accuracy, completeness, and clinical usefulness</a:t>
            </a:r>
          </a:p>
          <a:p>
            <a:r>
              <a:rPr lang="zh-CN" altLang="en-US" sz="1200" dirty="0"/>
              <a:t>输入：</a:t>
            </a:r>
            <a:r>
              <a:rPr lang="en-US" altLang="zh-CN" sz="1200" dirty="0"/>
              <a:t>20</a:t>
            </a:r>
            <a:r>
              <a:rPr lang="zh-CN" altLang="en-US" sz="1200" dirty="0"/>
              <a:t>个常见神经肿瘤文本病例。</a:t>
            </a:r>
            <a:endParaRPr lang="en-US" altLang="zh-CN" sz="1200" dirty="0"/>
          </a:p>
          <a:p>
            <a:r>
              <a:rPr lang="zh-CN" altLang="en-US" sz="1200" dirty="0"/>
              <a:t>本身任务：回答鉴别诊断、诊断性检查、初步诊断、管理计划四类问题。</a:t>
            </a:r>
            <a:endParaRPr lang="en-US" altLang="zh-CN" sz="1200" dirty="0"/>
          </a:p>
          <a:p>
            <a:r>
              <a:rPr lang="zh-CN" altLang="en-US" sz="1200" dirty="0"/>
              <a:t>预期在诊断流程中的任务：位于专科会诊前的管理计划草拟，非原始影像判读。</a:t>
            </a:r>
            <a:endParaRPr lang="en-US" altLang="zh-CN" sz="1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A7716A-62D9-5C0A-F4D7-F4B567EBC712}"/>
              </a:ext>
            </a:extLst>
          </p:cNvPr>
          <p:cNvSpPr txBox="1"/>
          <p:nvPr/>
        </p:nvSpPr>
        <p:spPr>
          <a:xfrm>
            <a:off x="310040" y="3655551"/>
            <a:ext cx="114542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脑 </a:t>
            </a:r>
            <a:r>
              <a:rPr lang="en-US" altLang="zh-CN" b="1" dirty="0"/>
              <a:t>MRI </a:t>
            </a:r>
            <a:r>
              <a:rPr lang="zh-CN" altLang="en-US" b="1" dirty="0"/>
              <a:t>图像 </a:t>
            </a:r>
            <a:r>
              <a:rPr lang="en-US" altLang="zh-CN" b="1" dirty="0"/>
              <a:t>+ </a:t>
            </a:r>
            <a:r>
              <a:rPr lang="zh-CN" altLang="en-US" b="1" dirty="0"/>
              <a:t>标注</a:t>
            </a:r>
            <a:r>
              <a:rPr lang="en-US" altLang="zh-CN" b="1" dirty="0"/>
              <a:t>/</a:t>
            </a:r>
            <a:r>
              <a:rPr lang="zh-CN" altLang="en-US" b="1" dirty="0"/>
              <a:t>病史</a:t>
            </a:r>
            <a:r>
              <a:rPr lang="en-US" altLang="zh-CN" b="1" dirty="0"/>
              <a:t>/</a:t>
            </a:r>
            <a:r>
              <a:rPr lang="zh-CN" altLang="en-US" b="1" dirty="0"/>
              <a:t>影像描述 </a:t>
            </a:r>
            <a:r>
              <a:rPr lang="en-US" altLang="zh-CN" b="1" dirty="0"/>
              <a:t>-&gt; </a:t>
            </a:r>
            <a:r>
              <a:rPr lang="zh-CN" altLang="en-US" b="1" dirty="0"/>
              <a:t>疑难鉴别诊断</a:t>
            </a:r>
            <a:endParaRPr lang="en-US" altLang="zh-CN" b="1" dirty="0"/>
          </a:p>
          <a:p>
            <a:r>
              <a:rPr lang="en-US" altLang="zh-CN" sz="1200" dirty="0"/>
              <a:t>Impact of Multimodal Prompt Elements on Diagnostic Performance of GPT-4V in Challenging Brain MRI Cases</a:t>
            </a:r>
          </a:p>
          <a:p>
            <a:r>
              <a:rPr lang="zh-CN" altLang="en-US" sz="1200" dirty="0"/>
              <a:t>输入：疑难脑 </a:t>
            </a:r>
            <a:r>
              <a:rPr lang="en-US" altLang="zh-CN" sz="1200" dirty="0"/>
              <a:t>MRI</a:t>
            </a:r>
            <a:r>
              <a:rPr lang="zh-CN" altLang="en-US" sz="1200" dirty="0"/>
              <a:t>，并组合加入图像、标注、病史、影像文字描述</a:t>
            </a:r>
            <a:endParaRPr lang="en-US" altLang="zh-CN" sz="1200" dirty="0"/>
          </a:p>
          <a:p>
            <a:r>
              <a:rPr lang="zh-CN" altLang="en-US" sz="1200" dirty="0"/>
              <a:t>本身任务：比较不同提示组合下 </a:t>
            </a:r>
            <a:r>
              <a:rPr lang="en-US" altLang="zh-CN" sz="1200" dirty="0"/>
              <a:t>GPT-4V </a:t>
            </a:r>
            <a:r>
              <a:rPr lang="zh-CN" altLang="en-US" sz="1200" dirty="0"/>
              <a:t>的鉴别诊断能力；仅给图像时准确率约</a:t>
            </a:r>
            <a:r>
              <a:rPr lang="en-US" altLang="zh-CN" sz="1200" dirty="0"/>
              <a:t>2.2%</a:t>
            </a:r>
            <a:r>
              <a:rPr lang="zh-CN" altLang="en-US" sz="1200" dirty="0"/>
              <a:t>，图像</a:t>
            </a:r>
            <a:r>
              <a:rPr lang="en-US" altLang="zh-CN" sz="1200" dirty="0"/>
              <a:t>+</a:t>
            </a:r>
            <a:r>
              <a:rPr lang="zh-CN" altLang="en-US" sz="1200" dirty="0"/>
              <a:t>标注约</a:t>
            </a:r>
            <a:r>
              <a:rPr lang="en-US" altLang="zh-CN" sz="1200" dirty="0"/>
              <a:t>1.1%</a:t>
            </a:r>
            <a:r>
              <a:rPr lang="zh-CN" altLang="en-US" sz="1200" dirty="0"/>
              <a:t>，图像</a:t>
            </a:r>
            <a:r>
              <a:rPr lang="en-US" altLang="zh-CN" sz="1200" dirty="0"/>
              <a:t>+</a:t>
            </a:r>
            <a:r>
              <a:rPr lang="zh-CN" altLang="en-US" sz="1200" dirty="0"/>
              <a:t>标注</a:t>
            </a:r>
            <a:r>
              <a:rPr lang="en-US" altLang="zh-CN" sz="1200" dirty="0"/>
              <a:t>+</a:t>
            </a:r>
            <a:r>
              <a:rPr lang="zh-CN" altLang="en-US" sz="1200" dirty="0"/>
              <a:t>病史</a:t>
            </a:r>
            <a:r>
              <a:rPr lang="en-US" altLang="zh-CN" sz="1200" dirty="0"/>
              <a:t>+</a:t>
            </a:r>
            <a:r>
              <a:rPr lang="zh-CN" altLang="en-US" sz="1200" dirty="0"/>
              <a:t>影像描述最高约</a:t>
            </a:r>
            <a:r>
              <a:rPr lang="en-US" altLang="zh-CN" sz="1200" dirty="0"/>
              <a:t>69% 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r>
              <a:rPr lang="zh-CN" altLang="en-US" sz="1200" dirty="0"/>
              <a:t>预期在诊断流程中的任务：位于医生</a:t>
            </a:r>
            <a:r>
              <a:rPr lang="zh-CN" altLang="en-US" sz="1200" b="1" dirty="0">
                <a:solidFill>
                  <a:srgbClr val="FF0000"/>
                </a:solidFill>
              </a:rPr>
              <a:t>先总结影像所见之后</a:t>
            </a:r>
            <a:r>
              <a:rPr lang="zh-CN" altLang="en-US" sz="1200" dirty="0"/>
              <a:t>的鉴别诊断扩展，不适合放在原始</a:t>
            </a:r>
            <a:r>
              <a:rPr lang="en-US" altLang="zh-CN" sz="1200" dirty="0"/>
              <a:t>MRI</a:t>
            </a:r>
            <a:r>
              <a:rPr lang="zh-CN" altLang="en-US" sz="1200" dirty="0"/>
              <a:t>直接首读。</a:t>
            </a:r>
            <a:endParaRPr lang="en-US" altLang="zh-CN" sz="1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AF8AEE-A3FB-A168-00C0-87B17677DAA7}"/>
              </a:ext>
            </a:extLst>
          </p:cNvPr>
          <p:cNvSpPr txBox="1"/>
          <p:nvPr/>
        </p:nvSpPr>
        <p:spPr>
          <a:xfrm>
            <a:off x="355625" y="4852207"/>
            <a:ext cx="1145429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头</a:t>
            </a:r>
            <a:r>
              <a:rPr lang="en-US" altLang="zh-CN" b="1" dirty="0"/>
              <a:t>CT</a:t>
            </a:r>
            <a:r>
              <a:rPr lang="zh-CN" altLang="en-US" b="1" dirty="0"/>
              <a:t> </a:t>
            </a:r>
            <a:r>
              <a:rPr lang="en-US" altLang="zh-CN" b="1" dirty="0"/>
              <a:t>-&gt; </a:t>
            </a:r>
            <a:r>
              <a:rPr lang="zh-CN" altLang="en-US" dirty="0"/>
              <a:t> </a:t>
            </a:r>
            <a:r>
              <a:rPr lang="zh-CN" altLang="en-US" b="1" dirty="0"/>
              <a:t>脑出血分型</a:t>
            </a:r>
            <a:endParaRPr lang="en-US" altLang="zh-CN" b="1" dirty="0"/>
          </a:p>
          <a:p>
            <a:r>
              <a:rPr lang="en-US" altLang="zh-CN" sz="1200" dirty="0"/>
              <a:t>Zero-shot multi-modal large language models </a:t>
            </a:r>
            <a:r>
              <a:rPr lang="en-US" altLang="zh-CN" sz="1200" dirty="0" err="1"/>
              <a:t>v.s</a:t>
            </a:r>
            <a:r>
              <a:rPr lang="en-US" altLang="zh-CN" sz="1200" dirty="0"/>
              <a:t>. supervised deep learning: A comparative analysis on CT-based intracranial hemorrhage subtyping</a:t>
            </a:r>
          </a:p>
          <a:p>
            <a:r>
              <a:rPr lang="zh-CN" altLang="en-US" sz="1200" dirty="0"/>
              <a:t>输入：非增强头 </a:t>
            </a:r>
            <a:r>
              <a:rPr lang="en-US" altLang="zh-CN" sz="1200" dirty="0"/>
              <a:t>CT </a:t>
            </a:r>
            <a:r>
              <a:rPr lang="zh-CN" altLang="en-US" sz="1200" dirty="0"/>
              <a:t>体数据</a:t>
            </a:r>
            <a:endParaRPr lang="en-US" altLang="zh-CN" sz="1200" dirty="0"/>
          </a:p>
          <a:p>
            <a:r>
              <a:rPr lang="zh-CN" altLang="en-US" sz="1200" dirty="0"/>
              <a:t>本身任务：</a:t>
            </a:r>
            <a:r>
              <a:rPr lang="zh-CN" altLang="en-US" sz="1200" b="1" dirty="0">
                <a:solidFill>
                  <a:srgbClr val="FF0000"/>
                </a:solidFill>
              </a:rPr>
              <a:t>零样本（意思是直接测） </a:t>
            </a:r>
            <a:r>
              <a:rPr lang="en-US" altLang="zh-CN" sz="1200" b="1" dirty="0">
                <a:solidFill>
                  <a:srgbClr val="FF0000"/>
                </a:solidFill>
              </a:rPr>
              <a:t>MLLM </a:t>
            </a:r>
            <a:r>
              <a:rPr lang="zh-CN" altLang="en-US" sz="1200" b="1" dirty="0">
                <a:solidFill>
                  <a:srgbClr val="FF0000"/>
                </a:solidFill>
              </a:rPr>
              <a:t>做脑出血检测与分型，并与监督式 </a:t>
            </a:r>
            <a:r>
              <a:rPr lang="en-US" altLang="zh-CN" sz="1200" b="1" dirty="0" err="1">
                <a:solidFill>
                  <a:srgbClr val="FF0000"/>
                </a:solidFill>
              </a:rPr>
              <a:t>ResNet</a:t>
            </a:r>
            <a:r>
              <a:rPr lang="en-US" altLang="zh-CN" sz="1200" b="1" dirty="0">
                <a:solidFill>
                  <a:srgbClr val="FF0000"/>
                </a:solidFill>
              </a:rPr>
              <a:t>/</a:t>
            </a:r>
            <a:r>
              <a:rPr lang="en-US" altLang="zh-CN" sz="1200" b="1" dirty="0" err="1">
                <a:solidFill>
                  <a:srgbClr val="FF0000"/>
                </a:solidFill>
              </a:rPr>
              <a:t>ViT</a:t>
            </a:r>
            <a:r>
              <a:rPr lang="en-US" altLang="zh-CN" sz="1200" b="1" dirty="0">
                <a:solidFill>
                  <a:srgbClr val="FF0000"/>
                </a:solidFill>
              </a:rPr>
              <a:t> </a:t>
            </a:r>
            <a:r>
              <a:rPr lang="zh-CN" altLang="en-US" sz="1200" b="1" dirty="0">
                <a:solidFill>
                  <a:srgbClr val="FF0000"/>
                </a:solidFill>
              </a:rPr>
              <a:t>比较；</a:t>
            </a:r>
            <a:r>
              <a:rPr lang="en-US" altLang="zh-CN" sz="1200" b="1" dirty="0">
                <a:solidFill>
                  <a:srgbClr val="FF0000"/>
                </a:solidFill>
              </a:rPr>
              <a:t>MLLM </a:t>
            </a:r>
            <a:r>
              <a:rPr lang="zh-CN" altLang="en-US" sz="1200" b="1" dirty="0">
                <a:solidFill>
                  <a:srgbClr val="FF0000"/>
                </a:solidFill>
              </a:rPr>
              <a:t>整体明显不如专门训练的深度学习模型，</a:t>
            </a:r>
            <a:r>
              <a:rPr lang="en-US" altLang="zh-CN" sz="1200" b="1" dirty="0">
                <a:solidFill>
                  <a:srgbClr val="FF0000"/>
                </a:solidFill>
              </a:rPr>
              <a:t>Gemini 2.0 Flash </a:t>
            </a:r>
            <a:r>
              <a:rPr lang="zh-CN" altLang="en-US" sz="1200" b="1" dirty="0">
                <a:solidFill>
                  <a:srgbClr val="FF0000"/>
                </a:solidFill>
              </a:rPr>
              <a:t>平均 </a:t>
            </a:r>
            <a:r>
              <a:rPr lang="en-US" altLang="zh-CN" sz="1200" b="1" dirty="0">
                <a:solidFill>
                  <a:srgbClr val="FF0000"/>
                </a:solidFill>
              </a:rPr>
              <a:t>F1 </a:t>
            </a:r>
            <a:r>
              <a:rPr lang="zh-CN" altLang="en-US" sz="1200" b="1" dirty="0">
                <a:solidFill>
                  <a:srgbClr val="FF0000"/>
                </a:solidFill>
              </a:rPr>
              <a:t>约</a:t>
            </a:r>
            <a:r>
              <a:rPr lang="en-US" altLang="zh-CN" sz="1200" b="1" dirty="0">
                <a:solidFill>
                  <a:srgbClr val="FF0000"/>
                </a:solidFill>
              </a:rPr>
              <a:t>0.31</a:t>
            </a:r>
            <a:r>
              <a:rPr lang="zh-CN" altLang="en-US" sz="1200" b="1" dirty="0">
                <a:solidFill>
                  <a:srgbClr val="FF0000"/>
                </a:solidFill>
              </a:rPr>
              <a:t>。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r>
              <a:rPr lang="zh-CN" altLang="en-US" sz="1200" dirty="0"/>
              <a:t>预期在诊断流程中的任务：位于急诊</a:t>
            </a:r>
            <a:r>
              <a:rPr lang="en-US" altLang="zh-CN" sz="1200" dirty="0"/>
              <a:t>CT</a:t>
            </a:r>
            <a:r>
              <a:rPr lang="zh-CN" altLang="en-US" sz="1200" dirty="0"/>
              <a:t>分诊</a:t>
            </a:r>
            <a:r>
              <a:rPr lang="en-US" altLang="zh-CN" sz="1200" dirty="0"/>
              <a:t>/</a:t>
            </a:r>
            <a:r>
              <a:rPr lang="zh-CN" altLang="en-US" sz="1200" dirty="0"/>
              <a:t>脑出血检测与分型。</a:t>
            </a:r>
            <a:endParaRPr lang="en-US" altLang="zh-CN" sz="1000" dirty="0"/>
          </a:p>
        </p:txBody>
      </p:sp>
    </p:spTree>
    <p:extLst>
      <p:ext uri="{BB962C8B-B14F-4D97-AF65-F5344CB8AC3E}">
        <p14:creationId xmlns:p14="http://schemas.microsoft.com/office/powerpoint/2010/main" val="116451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9903-E0CF-4FC2-111C-05AD38CE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695709-F4B7-B74D-7C61-67A5F50008C4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6D0DC5-EE3E-EB9D-4C94-3D0CE6ADCD33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4D4DE0-874F-B829-C21C-6B5909F816B6}"/>
              </a:ext>
            </a:extLst>
          </p:cNvPr>
          <p:cNvSpPr/>
          <p:nvPr/>
        </p:nvSpPr>
        <p:spPr>
          <a:xfrm>
            <a:off x="483904" y="487037"/>
            <a:ext cx="59872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MLLM </a:t>
            </a:r>
            <a:r>
              <a:rPr lang="zh-CN" altLang="en-US" dirty="0"/>
              <a:t>多模态大模型的近期医疗应用</a:t>
            </a:r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8FDD96-9C0C-5947-D6D9-FC521EF171E3}"/>
              </a:ext>
            </a:extLst>
          </p:cNvPr>
          <p:cNvSpPr txBox="1"/>
          <p:nvPr/>
        </p:nvSpPr>
        <p:spPr>
          <a:xfrm>
            <a:off x="355625" y="1183962"/>
            <a:ext cx="114542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头</a:t>
            </a:r>
            <a:r>
              <a:rPr lang="en-US" altLang="zh-CN" b="1" dirty="0"/>
              <a:t>CT</a:t>
            </a:r>
            <a:r>
              <a:rPr lang="zh-CN" altLang="en-US" b="1" dirty="0"/>
              <a:t> </a:t>
            </a:r>
            <a:r>
              <a:rPr lang="en-US" altLang="zh-CN" b="1" dirty="0"/>
              <a:t>-&gt; </a:t>
            </a:r>
            <a:r>
              <a:rPr lang="zh-CN" altLang="en-US" dirty="0"/>
              <a:t> </a:t>
            </a:r>
            <a:r>
              <a:rPr lang="zh-CN" altLang="en-US" b="1" dirty="0"/>
              <a:t>脑出血有无 </a:t>
            </a:r>
            <a:r>
              <a:rPr lang="en-US" altLang="zh-CN" b="1" dirty="0"/>
              <a:t>+ </a:t>
            </a:r>
            <a:r>
              <a:rPr lang="zh-CN" altLang="en-US" b="1" dirty="0"/>
              <a:t>亚型分类</a:t>
            </a:r>
            <a:endParaRPr lang="en-US" altLang="zh-CN" b="1" dirty="0"/>
          </a:p>
          <a:p>
            <a:r>
              <a:rPr lang="en-US" altLang="zh-CN" sz="1200" dirty="0"/>
              <a:t>Intracranial Hemorrhage Detection and Subtype Classification on CT Imaging Using a Large Language Model</a:t>
            </a:r>
          </a:p>
          <a:p>
            <a:r>
              <a:rPr lang="zh-CN" altLang="en-US" sz="1200" dirty="0"/>
              <a:t>输入：非增强头 </a:t>
            </a:r>
            <a:r>
              <a:rPr lang="en-US" altLang="zh-CN" sz="1200" dirty="0"/>
              <a:t>CT </a:t>
            </a:r>
            <a:r>
              <a:rPr lang="zh-CN" altLang="en-US" sz="1200" dirty="0"/>
              <a:t>体数据</a:t>
            </a:r>
            <a:endParaRPr lang="en-US" altLang="zh-CN" sz="1200" dirty="0"/>
          </a:p>
          <a:p>
            <a:r>
              <a:rPr lang="zh-CN" altLang="en-US" sz="1200" dirty="0"/>
              <a:t>本身任务：通用多模态 </a:t>
            </a:r>
            <a:r>
              <a:rPr lang="en-US" altLang="zh-CN" sz="1200" dirty="0"/>
              <a:t>LLM </a:t>
            </a:r>
            <a:r>
              <a:rPr lang="zh-CN" altLang="en-US" sz="1200" dirty="0"/>
              <a:t>做二分类出血检测和多类亚型分类；二分类总准确率约</a:t>
            </a:r>
            <a:r>
              <a:rPr lang="en-US" altLang="zh-CN" sz="1200" dirty="0"/>
              <a:t>0.52</a:t>
            </a:r>
            <a:r>
              <a:rPr lang="zh-CN" altLang="en-US" sz="1200" dirty="0"/>
              <a:t>，出血阳性召回仅</a:t>
            </a:r>
            <a:r>
              <a:rPr lang="en-US" altLang="zh-CN" sz="1200" dirty="0"/>
              <a:t>0.14</a:t>
            </a:r>
            <a:r>
              <a:rPr lang="zh-CN" altLang="en-US" dirty="0"/>
              <a:t>。</a:t>
            </a:r>
            <a:r>
              <a:rPr lang="zh-CN" altLang="en-US" b="1" dirty="0">
                <a:solidFill>
                  <a:srgbClr val="FF0000"/>
                </a:solidFill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</a:rPr>
              <a:t>MLLM</a:t>
            </a:r>
            <a:r>
              <a:rPr lang="zh-CN" altLang="en-US" b="1" dirty="0">
                <a:solidFill>
                  <a:srgbClr val="FF0000"/>
                </a:solidFill>
              </a:rPr>
              <a:t>基座直接应用效果较差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sz="1200" dirty="0"/>
              <a:t>预期在诊断流程中的任务：位于急诊</a:t>
            </a:r>
            <a:r>
              <a:rPr lang="en-US" altLang="zh-CN" sz="1200" dirty="0"/>
              <a:t>CT</a:t>
            </a:r>
            <a:r>
              <a:rPr lang="zh-CN" altLang="en-US" sz="1200" dirty="0"/>
              <a:t>分诊</a:t>
            </a:r>
            <a:r>
              <a:rPr lang="en-US" altLang="zh-CN" sz="1200" dirty="0"/>
              <a:t>/</a:t>
            </a:r>
            <a:r>
              <a:rPr lang="zh-CN" altLang="en-US" sz="1200" dirty="0"/>
              <a:t>脑出血检测与分型。</a:t>
            </a:r>
            <a:endParaRPr lang="en-US" altLang="zh-CN" sz="1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E03727-8650-D345-3A36-2D2AF15459E7}"/>
              </a:ext>
            </a:extLst>
          </p:cNvPr>
          <p:cNvSpPr txBox="1"/>
          <p:nvPr/>
        </p:nvSpPr>
        <p:spPr>
          <a:xfrm>
            <a:off x="298080" y="4843041"/>
            <a:ext cx="6101366" cy="12644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spcAft>
                <a:spcPts val="450"/>
              </a:spcAft>
              <a:defRPr b="0" i="0">
                <a:solidFill>
                  <a:srgbClr val="0D0D0D"/>
                </a:solidFill>
                <a:effectLst/>
                <a:latin typeface="-apple-system"/>
              </a:defRPr>
            </a:lvl1pPr>
          </a:lstStyle>
          <a:p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原始脑影像 </a:t>
            </a: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+ 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病史 </a:t>
            </a: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+ 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临床文本</a:t>
            </a:r>
            <a:endParaRPr lang="en-US" altLang="zh-CN" sz="1200" dirty="0">
              <a:solidFill>
                <a:schemeClr val="tx1"/>
              </a:solidFill>
              <a:latin typeface="+mn-lt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-&gt; 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自动输出正确影像解读（</a:t>
            </a:r>
            <a:r>
              <a:rPr lang="zh-CN" altLang="en-US" sz="1200" b="1" dirty="0">
                <a:solidFill>
                  <a:srgbClr val="FF0000"/>
                </a:solidFill>
                <a:latin typeface="+mn-lt"/>
              </a:rPr>
              <a:t>第一阶段工作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）</a:t>
            </a:r>
            <a:br>
              <a:rPr lang="zh-CN" altLang="en-US" sz="1200" dirty="0">
                <a:solidFill>
                  <a:schemeClr val="tx1"/>
                </a:solidFill>
                <a:latin typeface="+mn-lt"/>
              </a:rPr>
            </a:b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-&gt; 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自动输出完整治疗路径（结合影像、病史、症状）</a:t>
            </a:r>
            <a:br>
              <a:rPr lang="zh-CN" altLang="en-US" sz="1200" dirty="0">
                <a:solidFill>
                  <a:schemeClr val="tx1"/>
                </a:solidFill>
                <a:latin typeface="+mn-lt"/>
              </a:rPr>
            </a:b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-&gt; 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自动细化手术入路</a:t>
            </a: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范围</a:t>
            </a: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风险</a:t>
            </a:r>
            <a:br>
              <a:rPr lang="zh-CN" altLang="en-US" sz="1200" dirty="0">
                <a:solidFill>
                  <a:schemeClr val="tx1"/>
                </a:solidFill>
                <a:latin typeface="+mn-lt"/>
              </a:rPr>
            </a:b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-&gt; 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自动给出药物方案和时序</a:t>
            </a:r>
            <a:br>
              <a:rPr lang="zh-CN" altLang="en-US" sz="1200" dirty="0">
                <a:solidFill>
                  <a:schemeClr val="tx1"/>
                </a:solidFill>
                <a:latin typeface="+mn-lt"/>
              </a:rPr>
            </a:b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-&gt; 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最终达到脑肿瘤委员会</a:t>
            </a:r>
            <a:r>
              <a:rPr lang="en-US" altLang="zh-CN" sz="12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卒中团队级别的稳定表现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04A37E-5545-5790-759F-5F3CA3B1E54A}"/>
              </a:ext>
            </a:extLst>
          </p:cNvPr>
          <p:cNvSpPr txBox="1"/>
          <p:nvPr/>
        </p:nvSpPr>
        <p:spPr>
          <a:xfrm>
            <a:off x="355625" y="4336960"/>
            <a:ext cx="1704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期望的效果</a:t>
            </a:r>
          </a:p>
        </p:txBody>
      </p:sp>
    </p:spTree>
    <p:extLst>
      <p:ext uri="{BB962C8B-B14F-4D97-AF65-F5344CB8AC3E}">
        <p14:creationId xmlns:p14="http://schemas.microsoft.com/office/powerpoint/2010/main" val="3207492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507A-BCCC-4776-9E8F-BE3D249D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CD603D-D4AA-87DD-4DE6-E11EF6FF49BD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BB5077-436E-EF0A-A1FB-C150ACDD8005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2E4D5A-DB5C-DA29-1D38-A0F7E6A76773}"/>
              </a:ext>
            </a:extLst>
          </p:cNvPr>
          <p:cNvSpPr/>
          <p:nvPr/>
        </p:nvSpPr>
        <p:spPr>
          <a:xfrm>
            <a:off x="483904" y="487037"/>
            <a:ext cx="59872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MLLM </a:t>
            </a:r>
            <a:r>
              <a:rPr lang="zh-CN" altLang="en-US" dirty="0"/>
              <a:t>多模态大模型的近期医疗应用</a:t>
            </a:r>
            <a:endParaRPr 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19A6967-6F5F-9CCB-92DD-3C256F6B3478}"/>
              </a:ext>
            </a:extLst>
          </p:cNvPr>
          <p:cNvSpPr txBox="1"/>
          <p:nvPr/>
        </p:nvSpPr>
        <p:spPr>
          <a:xfrm>
            <a:off x="355627" y="1182994"/>
            <a:ext cx="11454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400" dirty="0"/>
              <a:t>自动放射学报告生成（</a:t>
            </a:r>
            <a:r>
              <a:rPr lang="en-US" altLang="zh-CN" sz="1400" dirty="0"/>
              <a:t>RRG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Towards a holistic framework for multimodal LLM in </a:t>
            </a:r>
            <a:r>
              <a:rPr lang="en-US" altLang="zh-CN" sz="1400" b="1" dirty="0"/>
              <a:t>3D brain CT radiology report generation</a:t>
            </a:r>
            <a:r>
              <a:rPr lang="zh-CN" altLang="en-US" sz="1400" dirty="0"/>
              <a:t>   </a:t>
            </a:r>
            <a:r>
              <a:rPr lang="en-US" altLang="zh-CN" sz="1400" dirty="0"/>
              <a:t>2025 Nature </a:t>
            </a:r>
            <a:r>
              <a:rPr lang="en-US" altLang="zh-CN" sz="1400" dirty="0" err="1"/>
              <a:t>communicaiton</a:t>
            </a:r>
            <a:endParaRPr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E674369-E8B7-BCD6-DC0B-EB3F6C3DE1EF}"/>
              </a:ext>
            </a:extLst>
          </p:cNvPr>
          <p:cNvSpPr txBox="1"/>
          <p:nvPr/>
        </p:nvSpPr>
        <p:spPr>
          <a:xfrm>
            <a:off x="355628" y="3203138"/>
            <a:ext cx="3772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核心贡献：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4F681F-8DC6-A423-5EFA-75171F8C619D}"/>
              </a:ext>
            </a:extLst>
          </p:cNvPr>
          <p:cNvSpPr txBox="1"/>
          <p:nvPr/>
        </p:nvSpPr>
        <p:spPr>
          <a:xfrm>
            <a:off x="355628" y="3520199"/>
            <a:ext cx="110593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altLang="zh-CN" sz="1100" b="1" dirty="0"/>
              <a:t>3D-BrainCT </a:t>
            </a:r>
            <a:r>
              <a:rPr lang="zh-CN" altLang="en-US" sz="1100" b="1" dirty="0"/>
              <a:t>数据集（</a:t>
            </a:r>
            <a:r>
              <a:rPr lang="en-US" altLang="zh-CN" sz="1100" b="1" dirty="0"/>
              <a:t>train: </a:t>
            </a:r>
            <a:r>
              <a:rPr lang="en-US" altLang="zh-CN" sz="1100" dirty="0"/>
              <a:t>7,751</a:t>
            </a:r>
            <a:r>
              <a:rPr lang="zh-CN" altLang="en-US" sz="1100" dirty="0"/>
              <a:t>名患者，</a:t>
            </a:r>
            <a:r>
              <a:rPr lang="en-US" altLang="zh-CN" sz="1100" dirty="0"/>
              <a:t>15247</a:t>
            </a:r>
            <a:r>
              <a:rPr lang="zh-CN" altLang="en-US" sz="1100" dirty="0"/>
              <a:t>个</a:t>
            </a:r>
            <a:r>
              <a:rPr lang="en-US" altLang="zh-CN" sz="1100" dirty="0"/>
              <a:t>CT</a:t>
            </a:r>
            <a:r>
              <a:rPr lang="zh-CN" altLang="en-US" sz="1100" dirty="0"/>
              <a:t>（多次扫描）</a:t>
            </a:r>
            <a:r>
              <a:rPr lang="en-US" altLang="zh-CN" sz="1100" dirty="0"/>
              <a:t>test: 1,938</a:t>
            </a:r>
            <a:r>
              <a:rPr lang="zh-CN" altLang="en-US" sz="1100" dirty="0"/>
              <a:t>名患者测试，</a:t>
            </a:r>
            <a:r>
              <a:rPr lang="en-US" altLang="zh-CN" sz="1100" dirty="0"/>
              <a:t>3638</a:t>
            </a:r>
            <a:r>
              <a:rPr lang="zh-CN" altLang="en-US" sz="1100" dirty="0"/>
              <a:t>个</a:t>
            </a:r>
            <a:r>
              <a:rPr lang="en-US" altLang="zh-CN" sz="1100" dirty="0"/>
              <a:t>CT  total : 9689</a:t>
            </a:r>
            <a:r>
              <a:rPr lang="zh-CN" altLang="en-US" sz="1100" dirty="0"/>
              <a:t>名患者，共</a:t>
            </a:r>
            <a:r>
              <a:rPr lang="en-US" altLang="zh-CN" sz="1100" b="1" dirty="0"/>
              <a:t>18885),     </a:t>
            </a:r>
            <a:r>
              <a:rPr lang="zh-CN" altLang="en-US" sz="1100" b="1" dirty="0"/>
              <a:t>规模可参考， 但未开源数据集</a:t>
            </a:r>
            <a:endParaRPr lang="en-US" altLang="zh-CN" sz="1100" b="1" dirty="0"/>
          </a:p>
          <a:p>
            <a:pPr marL="228600" indent="-228600">
              <a:buAutoNum type="arabicPeriod"/>
            </a:pPr>
            <a:endParaRPr lang="zh-CN" altLang="en-US" sz="1100" b="1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BC030DF-0A9F-165F-312D-367A94FEAAA0}"/>
              </a:ext>
            </a:extLst>
          </p:cNvPr>
          <p:cNvSpPr txBox="1"/>
          <p:nvPr/>
        </p:nvSpPr>
        <p:spPr>
          <a:xfrm>
            <a:off x="355627" y="1847742"/>
            <a:ext cx="10962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解决问题： </a:t>
            </a:r>
            <a:r>
              <a:rPr lang="en-US" altLang="zh-CN" sz="1400" dirty="0"/>
              <a:t>2D</a:t>
            </a:r>
            <a:r>
              <a:rPr lang="zh-CN" altLang="en-US" sz="1400" dirty="0"/>
              <a:t>图像</a:t>
            </a:r>
            <a:r>
              <a:rPr lang="en-US" altLang="zh-CN" sz="1400" dirty="0"/>
              <a:t>MLLM</a:t>
            </a:r>
            <a:r>
              <a:rPr lang="zh-CN" altLang="en-US" sz="1400" dirty="0"/>
              <a:t>的报告生成较为成熟， </a:t>
            </a:r>
            <a:r>
              <a:rPr lang="en-US" altLang="zh-CN" sz="1400" dirty="0"/>
              <a:t>3D</a:t>
            </a:r>
            <a:r>
              <a:rPr lang="zh-CN" altLang="en-US" sz="1400" dirty="0"/>
              <a:t>图像应用尚未充分探索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为什么？ 因为先前</a:t>
            </a:r>
            <a:r>
              <a:rPr lang="en-US" altLang="zh-CN" sz="1400" dirty="0"/>
              <a:t>2D</a:t>
            </a:r>
            <a:r>
              <a:rPr lang="zh-CN" altLang="en-US" sz="1400" dirty="0"/>
              <a:t>图像报告生成都是</a:t>
            </a:r>
            <a:r>
              <a:rPr lang="zh-CN" altLang="en-US" sz="1400" b="1" dirty="0"/>
              <a:t>人工挑选的截面</a:t>
            </a:r>
            <a:r>
              <a:rPr lang="zh-CN" altLang="en-US" sz="1400" dirty="0"/>
              <a:t>，因此 </a:t>
            </a:r>
            <a:r>
              <a:rPr lang="en-US" altLang="zh-CN" sz="1400" dirty="0"/>
              <a:t>MLLM </a:t>
            </a:r>
            <a:r>
              <a:rPr lang="zh-CN" altLang="en-US" sz="1400" dirty="0"/>
              <a:t>实际上主要是在“明确包含阳性病灶”的图像上被测试。 与真实场景存在偏差， 无法正确衡量真实的能力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8DB5A76-5DB1-C8DB-0C4B-69C3A3D77669}"/>
              </a:ext>
            </a:extLst>
          </p:cNvPr>
          <p:cNvSpPr txBox="1"/>
          <p:nvPr/>
        </p:nvSpPr>
        <p:spPr>
          <a:xfrm>
            <a:off x="355628" y="3809407"/>
            <a:ext cx="7163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/>
              <a:t>2. </a:t>
            </a:r>
            <a:r>
              <a:rPr lang="zh-CN" altLang="en-US" sz="1100" b="1" dirty="0"/>
              <a:t>开发了</a:t>
            </a:r>
            <a:r>
              <a:rPr lang="en-US" altLang="zh-CN" sz="1100" b="1" dirty="0" err="1"/>
              <a:t>BrainGPT</a:t>
            </a:r>
            <a:r>
              <a:rPr lang="en-US" altLang="zh-CN" sz="1100" b="1" dirty="0"/>
              <a:t>, </a:t>
            </a:r>
            <a:r>
              <a:rPr lang="zh-CN" altLang="en-US" sz="1100" dirty="0"/>
              <a:t>一个经过</a:t>
            </a:r>
            <a:r>
              <a:rPr lang="zh-CN" altLang="en-US" sz="1100" b="1" dirty="0"/>
              <a:t>临床视觉指令微调（</a:t>
            </a:r>
            <a:r>
              <a:rPr lang="en-US" altLang="zh-CN" sz="1100" b="1" dirty="0"/>
              <a:t>CVIT</a:t>
            </a:r>
            <a:r>
              <a:rPr lang="zh-CN" altLang="en-US" sz="1100" b="1" dirty="0"/>
              <a:t>）</a:t>
            </a:r>
            <a:r>
              <a:rPr lang="zh-CN" altLang="en-US" sz="1100" dirty="0"/>
              <a:t>的模型</a:t>
            </a:r>
            <a:endParaRPr lang="zh-CN" altLang="en-US" sz="110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AD4E1F-C93A-2588-01CB-33CCE6BF0812}"/>
              </a:ext>
            </a:extLst>
          </p:cNvPr>
          <p:cNvSpPr txBox="1"/>
          <p:nvPr/>
        </p:nvSpPr>
        <p:spPr>
          <a:xfrm>
            <a:off x="355628" y="4100079"/>
            <a:ext cx="110593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/>
              <a:t>3. </a:t>
            </a:r>
            <a:r>
              <a:rPr lang="zh-CN" altLang="en-US" sz="1100" b="1" dirty="0"/>
              <a:t>提出了</a:t>
            </a:r>
            <a:r>
              <a:rPr lang="en-US" altLang="zh-CN" sz="1100" dirty="0"/>
              <a:t>FORTE</a:t>
            </a:r>
            <a:r>
              <a:rPr lang="zh-CN" altLang="en-US" sz="1100" dirty="0"/>
              <a:t>（</a:t>
            </a:r>
            <a:r>
              <a:rPr lang="en-US" altLang="zh-CN" sz="1100" dirty="0"/>
              <a:t>feature-oriented radiology task evaluation</a:t>
            </a:r>
            <a:r>
              <a:rPr lang="zh-CN" altLang="en-US" sz="1100" dirty="0"/>
              <a:t>，面向特征的放射学任务评估）标准，来评测大模型的生成内容质量。</a:t>
            </a:r>
            <a:endParaRPr lang="zh-CN" altLang="en-US" sz="1100" b="1" dirty="0"/>
          </a:p>
          <a:p>
            <a:endParaRPr lang="zh-CN" altLang="en-US" sz="11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62054F-CE87-A04C-91DB-571D9231DBAD}"/>
              </a:ext>
            </a:extLst>
          </p:cNvPr>
          <p:cNvSpPr txBox="1"/>
          <p:nvPr/>
        </p:nvSpPr>
        <p:spPr>
          <a:xfrm>
            <a:off x="355628" y="4583744"/>
            <a:ext cx="116179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可参考的内容：</a:t>
            </a:r>
            <a:endParaRPr lang="en-US" altLang="zh-CN" sz="1400" dirty="0"/>
          </a:p>
          <a:p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评测体系以及方法</a:t>
            </a:r>
            <a:r>
              <a:rPr lang="zh-CN" altLang="en-US" sz="1400" dirty="0">
                <a:sym typeface="Wingdings" panose="05000000000000000000" pitchFamily="2" charset="2"/>
              </a:rPr>
              <a:t>：传统生成指标（</a:t>
            </a:r>
            <a:r>
              <a:rPr lang="en-US" altLang="zh-CN" sz="1400" dirty="0">
                <a:sym typeface="Wingdings" panose="05000000000000000000" pitchFamily="2" charset="2"/>
              </a:rPr>
              <a:t>BLEU-1/2/3/4</a:t>
            </a:r>
            <a:r>
              <a:rPr lang="zh-CN" altLang="en-US" sz="1400" dirty="0">
                <a:sym typeface="Wingdings" panose="05000000000000000000" pitchFamily="2" charset="2"/>
              </a:rPr>
              <a:t>，</a:t>
            </a:r>
            <a:r>
              <a:rPr lang="en-US" altLang="zh-CN" sz="1400" dirty="0">
                <a:sym typeface="Wingdings" panose="05000000000000000000" pitchFamily="2" charset="2"/>
              </a:rPr>
              <a:t>METEOR</a:t>
            </a:r>
            <a:r>
              <a:rPr lang="zh-CN" altLang="en-US" sz="1400" dirty="0">
                <a:sym typeface="Wingdings" panose="05000000000000000000" pitchFamily="2" charset="2"/>
              </a:rPr>
              <a:t>，</a:t>
            </a:r>
            <a:r>
              <a:rPr lang="en-US" altLang="zh-CN" sz="1400" dirty="0">
                <a:sym typeface="Wingdings" panose="05000000000000000000" pitchFamily="2" charset="2"/>
              </a:rPr>
              <a:t>ROUGE-L</a:t>
            </a:r>
            <a:r>
              <a:rPr lang="zh-CN" altLang="en-US" sz="1400" dirty="0">
                <a:sym typeface="Wingdings" panose="05000000000000000000" pitchFamily="2" charset="2"/>
              </a:rPr>
              <a:t>，</a:t>
            </a:r>
            <a:r>
              <a:rPr lang="en-US" altLang="zh-CN" sz="1400" dirty="0" err="1">
                <a:sym typeface="Wingdings" panose="05000000000000000000" pitchFamily="2" charset="2"/>
              </a:rPr>
              <a:t>CIDEr</a:t>
            </a:r>
            <a:r>
              <a:rPr lang="en-US" altLang="zh-CN" sz="1400" dirty="0">
                <a:sym typeface="Wingdings" panose="05000000000000000000" pitchFamily="2" charset="2"/>
              </a:rPr>
              <a:t>-R </a:t>
            </a:r>
            <a:r>
              <a:rPr lang="zh-CN" altLang="en-US" sz="1400" dirty="0">
                <a:sym typeface="Wingdings" panose="05000000000000000000" pitchFamily="2" charset="2"/>
              </a:rPr>
              <a:t>） </a:t>
            </a:r>
            <a:r>
              <a:rPr lang="en-US" altLang="zh-CN" sz="1400" dirty="0">
                <a:sym typeface="Wingdings" panose="05000000000000000000" pitchFamily="2" charset="2"/>
              </a:rPr>
              <a:t>+ FORTE</a:t>
            </a:r>
            <a:r>
              <a:rPr lang="zh-CN" altLang="en-US" sz="1400" dirty="0">
                <a:sym typeface="Wingdings" panose="05000000000000000000" pitchFamily="2" charset="2"/>
              </a:rPr>
              <a:t>（针对放射报告生成自研评价标准，无需标注）</a:t>
            </a:r>
            <a:r>
              <a:rPr lang="en-US" altLang="zh-CN" sz="1400" dirty="0">
                <a:sym typeface="Wingdings" panose="05000000000000000000" pitchFamily="2" charset="2"/>
              </a:rPr>
              <a:t>+ </a:t>
            </a:r>
            <a:r>
              <a:rPr lang="en-US" altLang="zh-CN" sz="1400" dirty="0" err="1">
                <a:sym typeface="Wingdings" panose="05000000000000000000" pitchFamily="2" charset="2"/>
              </a:rPr>
              <a:t>Doclens</a:t>
            </a:r>
            <a:r>
              <a:rPr lang="zh-CN" altLang="en-US" sz="1400" dirty="0">
                <a:sym typeface="Wingdings" panose="05000000000000000000" pitchFamily="2" charset="2"/>
              </a:rPr>
              <a:t>（</a:t>
            </a:r>
            <a:r>
              <a:rPr lang="en-US" altLang="zh-CN" sz="1400" dirty="0">
                <a:sym typeface="Wingdings" panose="05000000000000000000" pitchFamily="2" charset="2"/>
              </a:rPr>
              <a:t>LLM-as-a-judge</a:t>
            </a:r>
            <a:r>
              <a:rPr lang="zh-CN" altLang="en-US" sz="1400" dirty="0">
                <a:sym typeface="Wingdings" panose="05000000000000000000" pitchFamily="2" charset="2"/>
              </a:rPr>
              <a:t>）</a:t>
            </a:r>
            <a:r>
              <a:rPr lang="en-US" altLang="zh-CN" sz="1400" dirty="0">
                <a:sym typeface="Wingdings" panose="05000000000000000000" pitchFamily="2" charset="2"/>
              </a:rPr>
              <a:t> +  </a:t>
            </a:r>
            <a:r>
              <a:rPr lang="zh-CN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医生人工评分 </a:t>
            </a:r>
            <a:r>
              <a:rPr lang="en-US" altLang="zh-CN" sz="1400" dirty="0">
                <a:sym typeface="Wingdings" panose="05000000000000000000" pitchFamily="2" charset="2"/>
              </a:rPr>
              <a:t>+ </a:t>
            </a:r>
            <a:r>
              <a:rPr lang="zh-CN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图灵测试（医生人工标注</a:t>
            </a:r>
            <a:r>
              <a:rPr lang="zh-CN" altLang="en-US" sz="1400" dirty="0">
                <a:sym typeface="Wingdings" panose="05000000000000000000" pitchFamily="2" charset="2"/>
              </a:rPr>
              <a:t>）</a:t>
            </a:r>
            <a:r>
              <a:rPr lang="en-US" altLang="zh-CN" sz="14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buAutoNum type="arabicPeriod"/>
            </a:pPr>
            <a:r>
              <a:rPr lang="zh-CN" altLang="en-US" sz="1400" dirty="0">
                <a:sym typeface="Wingdings" panose="05000000000000000000" pitchFamily="2" charset="2"/>
              </a:rPr>
              <a:t>数据集规模</a:t>
            </a:r>
            <a:endParaRPr lang="en-US" altLang="zh-CN" sz="1400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sym typeface="Wingdings" panose="05000000000000000000" pitchFamily="2" charset="2"/>
              </a:rPr>
              <a:t>微调范式，两类，常规微调和临床视觉指令微调（</a:t>
            </a:r>
            <a:r>
              <a:rPr lang="en-US" altLang="zh-CN" sz="1400" dirty="0">
                <a:sym typeface="Wingdings" panose="05000000000000000000" pitchFamily="2" charset="2"/>
              </a:rPr>
              <a:t> </a:t>
            </a:r>
            <a:r>
              <a:rPr lang="zh-CN" altLang="en-US" sz="1400" dirty="0">
                <a:sym typeface="Wingdings" panose="05000000000000000000" pitchFamily="2" charset="2"/>
              </a:rPr>
              <a:t>临床视觉指令微调</a:t>
            </a:r>
            <a:r>
              <a:rPr lang="en-US" altLang="zh-CN" sz="1400" dirty="0">
                <a:sym typeface="Wingdings" panose="05000000000000000000" pitchFamily="2" charset="2"/>
              </a:rPr>
              <a:t>----- </a:t>
            </a:r>
            <a:r>
              <a:rPr lang="zh-CN" altLang="en-US" sz="1400" dirty="0">
                <a:sym typeface="Wingdings" panose="05000000000000000000" pitchFamily="2" charset="2"/>
              </a:rPr>
              <a:t>本质： 在提示词中加入医学先验）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2038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AF093-E1E6-B197-EDF4-417FEDB5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19F340-1A01-0167-81D6-C39288F6CEA9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4BB854-B8B7-CF16-40B4-F49F5262D816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FDE24C-3AEE-B4D2-0D25-252EB9B86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37" y="733247"/>
            <a:ext cx="7564644" cy="3229948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8B64572-2AB4-C623-79D1-56A508CC8441}"/>
              </a:ext>
            </a:extLst>
          </p:cNvPr>
          <p:cNvCxnSpPr>
            <a:cxnSpLocks/>
          </p:cNvCxnSpPr>
          <p:nvPr/>
        </p:nvCxnSpPr>
        <p:spPr>
          <a:xfrm flipV="1">
            <a:off x="1341112" y="3819802"/>
            <a:ext cx="574535" cy="1035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CF36E6F-35E6-BD67-A1A3-0F7E89434A23}"/>
              </a:ext>
            </a:extLst>
          </p:cNvPr>
          <p:cNvCxnSpPr>
            <a:cxnSpLocks/>
          </p:cNvCxnSpPr>
          <p:nvPr/>
        </p:nvCxnSpPr>
        <p:spPr>
          <a:xfrm flipH="1" flipV="1">
            <a:off x="1163088" y="3963195"/>
            <a:ext cx="105196" cy="887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8BE6858-408A-45AF-A9F8-FE94ABE57B98}"/>
              </a:ext>
            </a:extLst>
          </p:cNvPr>
          <p:cNvSpPr txBox="1"/>
          <p:nvPr/>
        </p:nvSpPr>
        <p:spPr>
          <a:xfrm>
            <a:off x="402437" y="4923221"/>
            <a:ext cx="2571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临床视觉指令微调（</a:t>
            </a:r>
            <a:r>
              <a:rPr lang="en-US" altLang="zh-CN" sz="1600" dirty="0"/>
              <a:t>CVIT</a:t>
            </a:r>
            <a:r>
              <a:rPr lang="zh-CN" altLang="en-US" dirty="0"/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EC44A2-25D1-0B97-6384-C30AC43B88A2}"/>
              </a:ext>
            </a:extLst>
          </p:cNvPr>
          <p:cNvSpPr txBox="1"/>
          <p:nvPr/>
        </p:nvSpPr>
        <p:spPr>
          <a:xfrm>
            <a:off x="3046512" y="4140314"/>
            <a:ext cx="84734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/>
              <a:t>常规视觉指令微调（</a:t>
            </a:r>
            <a:r>
              <a:rPr lang="en-US" altLang="zh-CN" sz="1400" b="1" dirty="0"/>
              <a:t>RVIT</a:t>
            </a:r>
            <a:r>
              <a:rPr lang="zh-CN" altLang="en-US" sz="1400" b="1" dirty="0"/>
              <a:t>）  （用不同的方式去整理模型的微调的输入内容）</a:t>
            </a:r>
            <a:endParaRPr lang="en-US" altLang="zh-CN" sz="1400" b="1" dirty="0"/>
          </a:p>
          <a:p>
            <a:pPr>
              <a:buNone/>
            </a:pPr>
            <a:endParaRPr lang="zh-CN" altLang="en-US" sz="1400" b="1" dirty="0"/>
          </a:p>
          <a:p>
            <a:pPr>
              <a:buFont typeface="+mj-lt"/>
              <a:buAutoNum type="arabicPeriod"/>
            </a:pPr>
            <a:r>
              <a:rPr lang="zh-CN" altLang="en-US" sz="1400" b="1" dirty="0"/>
              <a:t>普通指令（</a:t>
            </a:r>
            <a:r>
              <a:rPr lang="en-US" altLang="zh-CN" sz="1400" b="1" dirty="0"/>
              <a:t>plain instruction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：向模型传达其作为放射学助手的角色； </a:t>
            </a:r>
          </a:p>
          <a:p>
            <a:pPr>
              <a:buFont typeface="+mj-lt"/>
              <a:buAutoNum type="arabicPeriod"/>
            </a:pPr>
            <a:r>
              <a:rPr lang="zh-CN" altLang="en-US" sz="1400" b="1" dirty="0"/>
              <a:t>上下文示例指令（</a:t>
            </a:r>
            <a:r>
              <a:rPr lang="en-US" altLang="zh-CN" sz="1400" b="1" dirty="0"/>
              <a:t>in-context example instruction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：在普通指令基础上加入 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个示例</a:t>
            </a:r>
            <a:r>
              <a:rPr lang="zh-CN" altLang="en-US" sz="1400" dirty="0"/>
              <a:t>。 </a:t>
            </a:r>
            <a:endParaRPr lang="en-US" altLang="zh-CN" sz="1400" dirty="0"/>
          </a:p>
          <a:p>
            <a:pPr>
              <a:buFont typeface="+mj-lt"/>
              <a:buAutoNum type="arabicPeriod"/>
            </a:pPr>
            <a:endParaRPr lang="en-US" altLang="zh-CN" sz="1400" b="1" dirty="0"/>
          </a:p>
          <a:p>
            <a:r>
              <a:rPr lang="zh-CN" altLang="en-US" sz="1400" b="1" dirty="0"/>
              <a:t>临床视觉指令微调（</a:t>
            </a:r>
            <a:r>
              <a:rPr lang="en-US" altLang="zh-CN" sz="1400" b="1" dirty="0"/>
              <a:t>CVIT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zh-CN" altLang="en-US" sz="1400" b="1" dirty="0"/>
          </a:p>
          <a:p>
            <a:pPr>
              <a:buFont typeface="+mj-lt"/>
              <a:buAutoNum type="arabicPeriod" startAt="3"/>
            </a:pPr>
            <a:r>
              <a:rPr lang="zh-CN" altLang="en-US" sz="1400" b="1" dirty="0"/>
              <a:t>模板指令（</a:t>
            </a:r>
            <a:r>
              <a:rPr lang="en-US" altLang="zh-CN" sz="1400" b="1" dirty="0"/>
              <a:t>template instruction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：在普通指令基础上加入</a:t>
            </a:r>
            <a:r>
              <a:rPr lang="zh-CN" altLang="en-US" sz="1400" b="1" dirty="0"/>
              <a:t>结构化、临床定义明确的问答模板</a:t>
            </a:r>
            <a:r>
              <a:rPr lang="zh-CN" altLang="en-US" sz="1400" dirty="0"/>
              <a:t>； </a:t>
            </a:r>
          </a:p>
          <a:p>
            <a:pPr>
              <a:buFont typeface="+mj-lt"/>
              <a:buAutoNum type="arabicPeriod" startAt="3"/>
            </a:pPr>
            <a:r>
              <a:rPr lang="zh-CN" altLang="en-US" sz="1400" b="1" dirty="0"/>
              <a:t>关键词指令（</a:t>
            </a:r>
            <a:r>
              <a:rPr lang="en-US" altLang="zh-CN" sz="1400" b="1" dirty="0"/>
              <a:t>keyword instruction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：在普通指令基础上加入</a:t>
            </a:r>
            <a:r>
              <a:rPr lang="zh-CN" altLang="en-US" sz="1400" b="1" dirty="0"/>
              <a:t>聚焦关键词的分类指导</a:t>
            </a:r>
            <a:r>
              <a:rPr lang="zh-CN" altLang="en-US" sz="1400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62048A-BBED-5EB1-8488-61EAEE7F793F}"/>
              </a:ext>
            </a:extLst>
          </p:cNvPr>
          <p:cNvSpPr txBox="1"/>
          <p:nvPr/>
        </p:nvSpPr>
        <p:spPr>
          <a:xfrm>
            <a:off x="402437" y="337405"/>
            <a:ext cx="6101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Wingdings" panose="05000000000000000000" pitchFamily="2" charset="2"/>
              </a:rPr>
              <a:t>微调范式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093251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F88D-E323-42F4-1E0B-0D86B615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B5232C-3EE2-D402-BEAB-EFA5CD28A956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D3D403-BEF4-11F8-EC04-C22F8E9E53C2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C49F785-3CD8-20AB-5F84-370119951A9D}"/>
              </a:ext>
            </a:extLst>
          </p:cNvPr>
          <p:cNvSpPr txBox="1"/>
          <p:nvPr/>
        </p:nvSpPr>
        <p:spPr>
          <a:xfrm>
            <a:off x="243995" y="435442"/>
            <a:ext cx="1170370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临床视觉指令微调（</a:t>
            </a:r>
            <a:r>
              <a:rPr lang="en-US" altLang="zh-CN" sz="1400" b="1" dirty="0"/>
              <a:t>CVIT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zh-CN" altLang="en-US" sz="1400" dirty="0"/>
          </a:p>
          <a:p>
            <a:r>
              <a:rPr lang="en-US" altLang="zh-CN" sz="1400" b="1" dirty="0"/>
              <a:t>4. </a:t>
            </a:r>
            <a:r>
              <a:rPr lang="zh-CN" altLang="en-US" sz="1400" b="1" dirty="0"/>
              <a:t>关键词指令（</a:t>
            </a:r>
            <a:r>
              <a:rPr lang="en-US" altLang="zh-CN" sz="1400" b="1" dirty="0"/>
              <a:t>keyword instruction, </a:t>
            </a:r>
            <a:r>
              <a:rPr lang="zh-CN" altLang="en-US" sz="1400" b="1" dirty="0"/>
              <a:t>属于</a:t>
            </a:r>
            <a:r>
              <a:rPr lang="en-US" altLang="zh-CN" sz="1400" b="1" dirty="0" err="1"/>
              <a:t>cvit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：在普通指令基础上加入</a:t>
            </a:r>
            <a:r>
              <a:rPr lang="zh-CN" altLang="en-US" sz="1400" b="1" dirty="0"/>
              <a:t>聚焦关键词（哪些关键词？ 自定评测指标中的关键词</a:t>
            </a:r>
            <a:r>
              <a:rPr lang="en-US" altLang="zh-CN" sz="1400" dirty="0"/>
              <a:t>Degree / Landmark / Feature / Impression</a:t>
            </a:r>
            <a:r>
              <a:rPr lang="zh-CN" altLang="en-US" sz="1400" b="1" dirty="0"/>
              <a:t>，经过验证，和医生人工指标有强相关性）的分类指导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endParaRPr lang="en-US" altLang="zh-CN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FC1294-0FC5-95F2-2A30-839C3BF128F2}"/>
              </a:ext>
            </a:extLst>
          </p:cNvPr>
          <p:cNvSpPr txBox="1"/>
          <p:nvPr/>
        </p:nvSpPr>
        <p:spPr>
          <a:xfrm>
            <a:off x="297671" y="1431896"/>
            <a:ext cx="10805375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例子：</a:t>
            </a:r>
            <a:r>
              <a:rPr lang="en-US" altLang="zh-CN" sz="1400" b="1" dirty="0"/>
              <a:t> keyword instruction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You are an AI assistant specialized in radiology topics. You are provided with brain CT slices from a single study. The number of slices is 24.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Please generate medical descriptions based on the images in a consistent style.</a:t>
            </a:r>
          </a:p>
          <a:p>
            <a:endParaRPr lang="en-US" altLang="zh-CN" sz="1100" b="1" dirty="0"/>
          </a:p>
          <a:p>
            <a:r>
              <a:rPr lang="en-US" altLang="zh-CN" sz="1100" b="1" dirty="0">
                <a:solidFill>
                  <a:srgbClr val="FF0000"/>
                </a:solidFill>
              </a:rPr>
              <a:t>Use the following guidelines:</a:t>
            </a:r>
          </a:p>
          <a:p>
            <a:endParaRPr lang="en-US" altLang="zh-CN" sz="1100" b="1" dirty="0">
              <a:solidFill>
                <a:srgbClr val="FF0000"/>
              </a:solidFill>
            </a:endParaRPr>
          </a:p>
          <a:p>
            <a:r>
              <a:rPr lang="en-US" altLang="zh-CN" sz="1100" b="1" dirty="0">
                <a:solidFill>
                  <a:srgbClr val="FF0000"/>
                </a:solidFill>
              </a:rPr>
              <a:t>- Degree: Indicate the intensity or state (e.g., normal, mild, chronic, old, </a:t>
            </a:r>
            <a:r>
              <a:rPr lang="en-US" altLang="zh-CN" sz="1100" b="1" dirty="0" err="1">
                <a:solidFill>
                  <a:srgbClr val="FF0000"/>
                </a:solidFill>
              </a:rPr>
              <a:t>etc</a:t>
            </a:r>
            <a:r>
              <a:rPr lang="en-US" altLang="zh-CN" sz="1100" b="1" dirty="0">
                <a:solidFill>
                  <a:srgbClr val="FF0000"/>
                </a:solidFill>
              </a:rPr>
              <a:t>).</a:t>
            </a:r>
          </a:p>
          <a:p>
            <a:r>
              <a:rPr lang="en-US" altLang="zh-CN" sz="1100" b="1" dirty="0">
                <a:solidFill>
                  <a:srgbClr val="FF0000"/>
                </a:solidFill>
              </a:rPr>
              <a:t>- Landmark: Specify the area of interest (e.g., intracerebral, midline, parenchyma, sulci, </a:t>
            </a:r>
            <a:r>
              <a:rPr lang="en-US" altLang="zh-CN" sz="1100" b="1" dirty="0" err="1">
                <a:solidFill>
                  <a:srgbClr val="FF0000"/>
                </a:solidFill>
              </a:rPr>
              <a:t>etc</a:t>
            </a:r>
            <a:r>
              <a:rPr lang="en-US" altLang="zh-CN" sz="1100" b="1" dirty="0">
                <a:solidFill>
                  <a:srgbClr val="FF0000"/>
                </a:solidFill>
              </a:rPr>
              <a:t>).</a:t>
            </a:r>
          </a:p>
          <a:p>
            <a:r>
              <a:rPr lang="en-US" altLang="zh-CN" sz="1100" b="1" dirty="0">
                <a:solidFill>
                  <a:srgbClr val="FF0000"/>
                </a:solidFill>
              </a:rPr>
              <a:t>- Feature: Describe any observed abnormalities (e.g., hemorrhage, atrophy, infarcts, </a:t>
            </a:r>
            <a:r>
              <a:rPr lang="en-US" altLang="zh-CN" sz="1100" b="1" dirty="0" err="1">
                <a:solidFill>
                  <a:srgbClr val="FF0000"/>
                </a:solidFill>
              </a:rPr>
              <a:t>etc</a:t>
            </a:r>
            <a:r>
              <a:rPr lang="en-US" altLang="zh-CN" sz="1100" b="1" dirty="0">
                <a:solidFill>
                  <a:srgbClr val="FF0000"/>
                </a:solidFill>
              </a:rPr>
              <a:t>).</a:t>
            </a:r>
          </a:p>
          <a:p>
            <a:r>
              <a:rPr lang="en-US" altLang="zh-CN" sz="1100" b="1" dirty="0">
                <a:solidFill>
                  <a:srgbClr val="FF0000"/>
                </a:solidFill>
              </a:rPr>
              <a:t>- Impression: Conclude with a clinical impression (e.g., arteriosclerotic encephalopathy, intracerebral hemorrhage, dementia, </a:t>
            </a:r>
            <a:r>
              <a:rPr lang="en-US" altLang="zh-CN" sz="1100" b="1" dirty="0" err="1">
                <a:solidFill>
                  <a:srgbClr val="FF0000"/>
                </a:solidFill>
              </a:rPr>
              <a:t>etc</a:t>
            </a:r>
            <a:r>
              <a:rPr lang="en-US" altLang="zh-CN" sz="1100" b="1" dirty="0">
                <a:solidFill>
                  <a:srgbClr val="FF0000"/>
                </a:solidFill>
              </a:rPr>
              <a:t>).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Ensure consistency and clarity in the report.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2DA839-66BB-682A-26EF-F86DB54795C6}"/>
              </a:ext>
            </a:extLst>
          </p:cNvPr>
          <p:cNvSpPr txBox="1"/>
          <p:nvPr/>
        </p:nvSpPr>
        <p:spPr>
          <a:xfrm>
            <a:off x="297671" y="4050025"/>
            <a:ext cx="10805375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例子： </a:t>
            </a:r>
            <a:r>
              <a:rPr lang="en-US" altLang="zh-CN" sz="1400" b="1" dirty="0"/>
              <a:t>plain instruction</a:t>
            </a:r>
          </a:p>
          <a:p>
            <a:endParaRPr lang="en-US" altLang="zh-CN" sz="1100" b="1" dirty="0"/>
          </a:p>
          <a:p>
            <a:r>
              <a:rPr lang="en-US" altLang="zh-CN" sz="1200" b="1" dirty="0"/>
              <a:t>You are an AI assistant specialized in radiology topics. You are provided with brain CT slices from a single study. The number of slices is 24.</a:t>
            </a:r>
          </a:p>
          <a:p>
            <a:r>
              <a:rPr lang="en-US" altLang="zh-CN" sz="1200" b="1" dirty="0"/>
              <a:t>Please generate medical descriptions based on the images in a consistent style.</a:t>
            </a:r>
          </a:p>
          <a:p>
            <a:r>
              <a:rPr lang="en-US" altLang="zh-CN" sz="1200" b="1" dirty="0"/>
              <a:t>Ensure consistency and clarity in the report.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50A0B5-70D4-5590-F5CF-E5EA98484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484" y="4804323"/>
            <a:ext cx="4941592" cy="17062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1A60445-590C-9EC3-6BAD-617559C9CC01}"/>
              </a:ext>
            </a:extLst>
          </p:cNvPr>
          <p:cNvSpPr txBox="1"/>
          <p:nvPr/>
        </p:nvSpPr>
        <p:spPr>
          <a:xfrm>
            <a:off x="297671" y="5257193"/>
            <a:ext cx="62543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/>
              <a:t>结构化的</a:t>
            </a:r>
            <a:r>
              <a:rPr lang="en-US" altLang="zh-CN" sz="800" dirty="0" err="1"/>
              <a:t>json</a:t>
            </a:r>
            <a:r>
              <a:rPr lang="zh-CN" altLang="en-US" sz="800" dirty="0"/>
              <a:t>格式</a:t>
            </a:r>
            <a:endParaRPr lang="en-US" altLang="zh-CN" sz="800" dirty="0"/>
          </a:p>
          <a:p>
            <a:r>
              <a:rPr lang="zh-CN" altLang="en-US" sz="800" dirty="0"/>
              <a:t>{</a:t>
            </a:r>
          </a:p>
          <a:p>
            <a:r>
              <a:rPr lang="zh-CN" altLang="en-US" sz="800" dirty="0"/>
              <a:t>  "images": ["24 brain CT slices"],</a:t>
            </a:r>
          </a:p>
          <a:p>
            <a:r>
              <a:rPr lang="zh-CN" altLang="en-US" sz="800" dirty="0"/>
              <a:t>  "instruction": "You are an AI assistant specialized in radiology topics... Use the following guidelines: Degree... Landmark... Feature... Impression...",</a:t>
            </a:r>
          </a:p>
          <a:p>
            <a:r>
              <a:rPr lang="zh-CN" altLang="en-US" sz="800" dirty="0"/>
              <a:t>  "answer": "Findings:\n- Mild generalized loss of brain tissue with enlargement of cortical sulci and ventricular system.\n- No intracerebral hemorrhage...\nConclusion:\nSenile change."</a:t>
            </a:r>
          </a:p>
          <a:p>
            <a:r>
              <a:rPr lang="zh-CN" altLang="en-US" sz="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775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3E59B-E007-33F3-8794-EDCF683A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D4504D-6DF3-4BCE-4A55-CB5712A6D80D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C3B74E-3418-5DA3-C267-4E07B374FFF8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0C8AC9-592B-A4CA-2168-137424607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9" y="384550"/>
            <a:ext cx="9144000" cy="47650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74471F73-4168-C5A8-7A2E-D684B33E8402}"/>
                  </a:ext>
                </a:extLst>
              </p14:cNvPr>
              <p14:cNvContentPartPr/>
              <p14:nvPr/>
            </p14:nvContentPartPr>
            <p14:xfrm>
              <a:off x="3329174" y="295879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74471F73-4168-C5A8-7A2E-D684B33E84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4854" y="291559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784B548A-5E78-6192-E193-A048BC6701EC}"/>
                  </a:ext>
                </a:extLst>
              </p14:cNvPr>
              <p14:cNvContentPartPr/>
              <p14:nvPr/>
            </p14:nvContentPartPr>
            <p14:xfrm>
              <a:off x="3200294" y="450679"/>
              <a:ext cx="360" cy="36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784B548A-5E78-6192-E193-A048BC6701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5974" y="446359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24054A67-63D2-7192-D0D8-9269E7F5CEC4}"/>
                  </a:ext>
                </a:extLst>
              </p14:cNvPr>
              <p14:cNvContentPartPr/>
              <p14:nvPr/>
            </p14:nvContentPartPr>
            <p14:xfrm>
              <a:off x="2808254" y="4410679"/>
              <a:ext cx="2159280" cy="35640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24054A67-63D2-7192-D0D8-9269E7F5CE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03934" y="4406359"/>
                <a:ext cx="216792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4B65E53E-0082-298D-055F-D43A0E4A8BF8}"/>
                  </a:ext>
                </a:extLst>
              </p14:cNvPr>
              <p14:cNvContentPartPr/>
              <p14:nvPr/>
            </p14:nvContentPartPr>
            <p14:xfrm>
              <a:off x="2961254" y="488119"/>
              <a:ext cx="716400" cy="108468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4B65E53E-0082-298D-055F-D43A0E4A8B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56934" y="483799"/>
                <a:ext cx="725040" cy="109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060363E3-6FD8-864B-AA33-ACC1C6D81841}"/>
              </a:ext>
            </a:extLst>
          </p:cNvPr>
          <p:cNvGrpSpPr/>
          <p:nvPr/>
        </p:nvGrpSpPr>
        <p:grpSpPr>
          <a:xfrm>
            <a:off x="2457254" y="1763239"/>
            <a:ext cx="2811600" cy="2582640"/>
            <a:chOff x="2457254" y="1763239"/>
            <a:chExt cx="2811600" cy="25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BAC8A4E7-89EE-D33B-41E1-6BB39C006065}"/>
                    </a:ext>
                  </a:extLst>
                </p14:cNvPr>
                <p14:cNvContentPartPr/>
                <p14:nvPr/>
              </p14:nvContentPartPr>
              <p14:xfrm>
                <a:off x="2457254" y="1763239"/>
                <a:ext cx="2811600" cy="56988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BAC8A4E7-89EE-D33B-41E1-6BB39C0060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52934" y="1758919"/>
                  <a:ext cx="282024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6A0EB763-7FD8-3856-E607-41091F96E572}"/>
                    </a:ext>
                  </a:extLst>
                </p14:cNvPr>
                <p14:cNvContentPartPr/>
                <p14:nvPr/>
              </p14:nvContentPartPr>
              <p14:xfrm>
                <a:off x="2896454" y="2427439"/>
                <a:ext cx="426600" cy="191844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6A0EB763-7FD8-3856-E607-41091F96E5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2134" y="2423119"/>
                  <a:ext cx="435240" cy="19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3DA5F29A-0E21-2BCA-0CA8-91E40F34C24E}"/>
                    </a:ext>
                  </a:extLst>
                </p14:cNvPr>
                <p14:cNvContentPartPr/>
                <p14:nvPr/>
              </p14:nvContentPartPr>
              <p14:xfrm>
                <a:off x="3565694" y="2369119"/>
                <a:ext cx="523800" cy="193392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3DA5F29A-0E21-2BCA-0CA8-91E40F34C2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61374" y="2364799"/>
                  <a:ext cx="532440" cy="1942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5BDEE6BD-D984-979B-1DE8-AA8CB476E0DB}"/>
              </a:ext>
            </a:extLst>
          </p:cNvPr>
          <p:cNvSpPr txBox="1"/>
          <p:nvPr/>
        </p:nvSpPr>
        <p:spPr>
          <a:xfrm>
            <a:off x="423637" y="5265021"/>
            <a:ext cx="879119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dirty="0">
                <a:latin typeface="Arial" panose="020B0604020202020204" pitchFamily="34" charset="0"/>
              </a:rPr>
              <a:t>实际架构： </a:t>
            </a:r>
            <a:r>
              <a:rPr lang="en-US" altLang="zh-CN" sz="1600" dirty="0">
                <a:latin typeface="Arial" panose="020B0604020202020204" pitchFamily="34" charset="0"/>
              </a:rPr>
              <a:t>pretrained VIT + LLaMA-7B </a:t>
            </a:r>
            <a:r>
              <a:rPr lang="zh-CN" altLang="en-US" sz="1600" dirty="0">
                <a:latin typeface="Arial" panose="020B0604020202020204" pitchFamily="34" charset="0"/>
              </a:rPr>
              <a:t>（蓝色） ， 缝合视觉</a:t>
            </a:r>
            <a:r>
              <a:rPr lang="en-US" altLang="zh-CN" sz="1600" dirty="0">
                <a:latin typeface="Arial" panose="020B0604020202020204" pitchFamily="34" charset="0"/>
              </a:rPr>
              <a:t>feature</a:t>
            </a:r>
            <a:r>
              <a:rPr lang="zh-CN" altLang="en-US" sz="1600" dirty="0">
                <a:latin typeface="Arial" panose="020B0604020202020204" pitchFamily="34" charset="0"/>
              </a:rPr>
              <a:t>注入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dirty="0">
                <a:latin typeface="Arial" panose="020B0604020202020204" pitchFamily="34" charset="0"/>
              </a:rPr>
              <a:t>真正做了</a:t>
            </a:r>
            <a:r>
              <a:rPr lang="en-US" altLang="zh-CN" sz="1600" dirty="0">
                <a:latin typeface="Arial" panose="020B0604020202020204" pitchFamily="34" charset="0"/>
              </a:rPr>
              <a:t>SFT</a:t>
            </a:r>
            <a:r>
              <a:rPr lang="zh-CN" altLang="en-US" sz="1600" dirty="0">
                <a:latin typeface="Arial" panose="020B0604020202020204" pitchFamily="34" charset="0"/>
              </a:rPr>
              <a:t>的部分： </a:t>
            </a:r>
            <a:r>
              <a:rPr lang="en-US" altLang="zh-CN" sz="1600" dirty="0">
                <a:latin typeface="Arial" panose="020B0604020202020204" pitchFamily="34" charset="0"/>
              </a:rPr>
              <a:t>Perceiver </a:t>
            </a:r>
            <a:r>
              <a:rPr lang="en-US" altLang="zh-CN" sz="1600" dirty="0" err="1">
                <a:latin typeface="Arial" panose="020B0604020202020204" pitchFamily="34" charset="0"/>
              </a:rPr>
              <a:t>Resampler</a:t>
            </a:r>
            <a:r>
              <a:rPr lang="en-US" altLang="zh-CN" sz="1600" dirty="0">
                <a:latin typeface="Arial" panose="020B0604020202020204" pitchFamily="34" charset="0"/>
              </a:rPr>
              <a:t> +  dense </a:t>
            </a:r>
            <a:r>
              <a:rPr lang="en-US" altLang="zh-CN" sz="1600" dirty="0" err="1">
                <a:latin typeface="Arial" panose="020B0604020202020204" pitchFamily="34" charset="0"/>
              </a:rPr>
              <a:t>multihead</a:t>
            </a:r>
            <a:r>
              <a:rPr lang="en-US" altLang="zh-CN" sz="1600" dirty="0">
                <a:latin typeface="Arial" panose="020B0604020202020204" pitchFamily="34" charset="0"/>
              </a:rPr>
              <a:t> attention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dirty="0"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dirty="0">
                <a:latin typeface="Arial" panose="020B0604020202020204" pitchFamily="34" charset="0"/>
              </a:rPr>
              <a:t>预期模型：</a:t>
            </a:r>
            <a:r>
              <a:rPr lang="en-US" altLang="zh-CN" dirty="0">
                <a:latin typeface="Arial" panose="020B0604020202020204" pitchFamily="34" charset="0"/>
              </a:rPr>
              <a:t>Qwen 2.5VL</a:t>
            </a:r>
            <a:r>
              <a:rPr lang="zh-CN" altLang="en-US" dirty="0">
                <a:latin typeface="Arial" panose="020B0604020202020204" pitchFamily="34" charset="0"/>
              </a:rPr>
              <a:t>，原生</a:t>
            </a:r>
            <a:r>
              <a:rPr lang="en-US" altLang="zh-CN" dirty="0" err="1">
                <a:latin typeface="Arial" panose="020B0604020202020204" pitchFamily="34" charset="0"/>
              </a:rPr>
              <a:t>mllm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808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B214-4EA7-63D1-3C77-61A0AF04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3364C9-050B-B587-69F8-0A1B2DBBAB09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03A98D-B2F6-D08F-E576-7B7F2EC8D351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E50BC06-3A4E-A785-C4E5-852783E60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7" y="1821821"/>
            <a:ext cx="9144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ym typeface="Wingdings" panose="05000000000000000000" pitchFamily="2" charset="2"/>
              </a:rPr>
              <a:t>传统生成指标（</a:t>
            </a:r>
            <a:r>
              <a:rPr lang="en-US" altLang="zh-CN" dirty="0">
                <a:sym typeface="Wingdings" panose="05000000000000000000" pitchFamily="2" charset="2"/>
              </a:rPr>
              <a:t>BLEU-1/2/3/4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ym typeface="Wingdings" panose="05000000000000000000" pitchFamily="2" charset="2"/>
              </a:rPr>
              <a:t>METEOR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ym typeface="Wingdings" panose="05000000000000000000" pitchFamily="2" charset="2"/>
              </a:rPr>
              <a:t>ROUGE-L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 err="1">
                <a:sym typeface="Wingdings" panose="05000000000000000000" pitchFamily="2" charset="2"/>
              </a:rPr>
              <a:t>CIDEr</a:t>
            </a:r>
            <a:r>
              <a:rPr lang="en-US" altLang="zh-CN" dirty="0">
                <a:sym typeface="Wingdings" panose="05000000000000000000" pitchFamily="2" charset="2"/>
              </a:rPr>
              <a:t>-R </a:t>
            </a:r>
            <a:r>
              <a:rPr lang="zh-CN" altLang="en-US" dirty="0">
                <a:sym typeface="Wingdings" panose="05000000000000000000" pitchFamily="2" charset="2"/>
              </a:rPr>
              <a:t>） </a:t>
            </a:r>
            <a:r>
              <a:rPr lang="en-US" altLang="zh-CN" dirty="0">
                <a:sym typeface="Wingdings" panose="05000000000000000000" pitchFamily="2" charset="2"/>
              </a:rPr>
              <a:t>+ FORTE</a:t>
            </a:r>
            <a:r>
              <a:rPr lang="zh-CN" altLang="en-US" dirty="0">
                <a:sym typeface="Wingdings" panose="05000000000000000000" pitchFamily="2" charset="2"/>
              </a:rPr>
              <a:t>（针对放射报告生成自研评价标准，无需标注）</a:t>
            </a:r>
            <a:r>
              <a:rPr lang="en-US" altLang="zh-CN" dirty="0">
                <a:sym typeface="Wingdings" panose="05000000000000000000" pitchFamily="2" charset="2"/>
              </a:rPr>
              <a:t>+ </a:t>
            </a:r>
            <a:r>
              <a:rPr lang="en-US" altLang="zh-CN" dirty="0" err="1">
                <a:sym typeface="Wingdings" panose="05000000000000000000" pitchFamily="2" charset="2"/>
              </a:rPr>
              <a:t>Doclens</a:t>
            </a:r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ym typeface="Wingdings" panose="05000000000000000000" pitchFamily="2" charset="2"/>
              </a:rPr>
              <a:t>LLM-as-a-judge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3FF012-023E-5F73-D6C3-CE10B16CABDC}"/>
              </a:ext>
            </a:extLst>
          </p:cNvPr>
          <p:cNvSpPr txBox="1"/>
          <p:nvPr/>
        </p:nvSpPr>
        <p:spPr>
          <a:xfrm>
            <a:off x="402437" y="430346"/>
            <a:ext cx="6101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Wingdings" panose="05000000000000000000" pitchFamily="2" charset="2"/>
              </a:rPr>
              <a:t>评测范式</a:t>
            </a:r>
            <a:endParaRPr lang="zh-CN" alt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B2C98E-FCBF-066E-B735-25918DFE8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7" y="3029849"/>
            <a:ext cx="49664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ym typeface="Wingdings" panose="05000000000000000000" pitchFamily="2" charset="2"/>
              </a:rPr>
              <a:t>医生人工评分 </a:t>
            </a:r>
            <a:r>
              <a:rPr lang="en-US" altLang="zh-CN" dirty="0">
                <a:sym typeface="Wingdings" panose="05000000000000000000" pitchFamily="2" charset="2"/>
              </a:rPr>
              <a:t>+ </a:t>
            </a:r>
            <a:r>
              <a:rPr lang="zh-CN" altLang="en-US" b="1" dirty="0">
                <a:sym typeface="Wingdings" panose="05000000000000000000" pitchFamily="2" charset="2"/>
              </a:rPr>
              <a:t>图灵测试（医生人工标注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572605-DDFD-5112-0558-9B6468ED9307}"/>
              </a:ext>
            </a:extLst>
          </p:cNvPr>
          <p:cNvSpPr txBox="1"/>
          <p:nvPr/>
        </p:nvSpPr>
        <p:spPr>
          <a:xfrm>
            <a:off x="402437" y="898098"/>
            <a:ext cx="3974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dirty="0">
                <a:latin typeface="Arial" panose="020B0604020202020204" pitchFamily="34" charset="0"/>
              </a:rPr>
              <a:t>两类指标， 无需人工， 需要人工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7ED5BC-0170-B424-4D07-D5AF2A576566}"/>
              </a:ext>
            </a:extLst>
          </p:cNvPr>
          <p:cNvSpPr txBox="1"/>
          <p:nvPr/>
        </p:nvSpPr>
        <p:spPr>
          <a:xfrm>
            <a:off x="402437" y="1431177"/>
            <a:ext cx="6101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无需人工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C79C54-8F6E-2AB5-B605-D8338FED1510}"/>
              </a:ext>
            </a:extLst>
          </p:cNvPr>
          <p:cNvSpPr txBox="1"/>
          <p:nvPr/>
        </p:nvSpPr>
        <p:spPr>
          <a:xfrm>
            <a:off x="402437" y="2637986"/>
            <a:ext cx="145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需要人工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37A752D-2067-E382-997B-DD5787025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7" y="3870170"/>
            <a:ext cx="4865022" cy="2181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多少标注工作量？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Arial" panose="020B0604020202020204" pitchFamily="34" charset="0"/>
              </a:rPr>
              <a:t>医生评分部分：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latin typeface="Arial" panose="020B0604020202020204" pitchFamily="34" charset="0"/>
              </a:rPr>
              <a:t>gt+pred</a:t>
            </a:r>
            <a:r>
              <a:rPr lang="en-US" altLang="zh-CN" sz="1400" dirty="0">
                <a:latin typeface="Arial" panose="020B0604020202020204" pitchFamily="34" charset="0"/>
              </a:rPr>
              <a:t> </a:t>
            </a:r>
            <a:r>
              <a:rPr lang="zh-CN" altLang="en-US" sz="1400" dirty="0">
                <a:latin typeface="Arial" panose="020B0604020202020204" pitchFamily="34" charset="0"/>
              </a:rPr>
              <a:t>各</a:t>
            </a:r>
            <a:r>
              <a:rPr lang="en-US" altLang="zh-CN" sz="1400" dirty="0">
                <a:latin typeface="Arial" panose="020B0604020202020204" pitchFamily="34" charset="0"/>
              </a:rPr>
              <a:t>100</a:t>
            </a:r>
            <a:r>
              <a:rPr lang="zh-CN" altLang="en-US" sz="1400" dirty="0">
                <a:latin typeface="Arial" panose="020B0604020202020204" pitchFamily="34" charset="0"/>
              </a:rPr>
              <a:t>份，</a:t>
            </a:r>
            <a:r>
              <a:rPr lang="en-US" altLang="zh-CN" sz="1400" dirty="0">
                <a:latin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</a:rPr>
              <a:t>个维度， 每个维度</a:t>
            </a:r>
            <a:r>
              <a:rPr lang="en-US" altLang="zh-CN" sz="1400" dirty="0">
                <a:latin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</a:rPr>
              <a:t>分制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zh-CN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图灵测试部分：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132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份报告，三个问题，两个阶段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758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BB8E-2014-2EE9-1507-3F2D1A237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55D1B6-EC77-1CA1-EC77-B61E51ECE1B4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653D86-7C10-6796-C249-62141202BE06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3890963-EC12-772E-15A9-5C3D7623F0AE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CC0C2D-1BAA-D0F9-6077-DFBD12A1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82" y="2698900"/>
            <a:ext cx="5157230" cy="26760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C6B8AB-60AB-2244-1E70-5AB1D79F8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58" y="2648843"/>
            <a:ext cx="4916894" cy="2726145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E8F396AD-FEBE-925D-10EC-2800BCF0A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58" y="688171"/>
            <a:ext cx="6204426" cy="1442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预期多少标注工作量？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Arial" panose="020B0604020202020204" pitchFamily="34" charset="0"/>
              </a:rPr>
              <a:t>医生评分部分：</a:t>
            </a:r>
            <a:r>
              <a:rPr lang="en-US" altLang="zh-CN" sz="1400" dirty="0" err="1">
                <a:latin typeface="Arial" panose="020B0604020202020204" pitchFamily="34" charset="0"/>
              </a:rPr>
              <a:t>gt+pred</a:t>
            </a:r>
            <a:r>
              <a:rPr lang="en-US" altLang="zh-CN" sz="1400" dirty="0">
                <a:latin typeface="Arial" panose="020B0604020202020204" pitchFamily="34" charset="0"/>
              </a:rPr>
              <a:t> </a:t>
            </a:r>
            <a:r>
              <a:rPr lang="zh-CN" altLang="en-US" sz="1400" dirty="0">
                <a:latin typeface="Arial" panose="020B0604020202020204" pitchFamily="34" charset="0"/>
              </a:rPr>
              <a:t>共</a:t>
            </a:r>
            <a:r>
              <a:rPr lang="en-US" altLang="zh-CN" sz="1400" dirty="0">
                <a:latin typeface="Arial" panose="020B0604020202020204" pitchFamily="34" charset="0"/>
              </a:rPr>
              <a:t>200</a:t>
            </a:r>
            <a:r>
              <a:rPr lang="zh-CN" altLang="en-US" sz="1400" dirty="0">
                <a:latin typeface="Arial" panose="020B0604020202020204" pitchFamily="34" charset="0"/>
              </a:rPr>
              <a:t>份报告，</a:t>
            </a:r>
            <a:r>
              <a:rPr lang="en-US" altLang="zh-CN" sz="1400" dirty="0">
                <a:latin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</a:rPr>
              <a:t>个维度， 每个维度</a:t>
            </a:r>
            <a:r>
              <a:rPr lang="en-US" altLang="zh-CN" sz="1400" dirty="0">
                <a:latin typeface="Arial" panose="020B0604020202020204" pitchFamily="34" charset="0"/>
              </a:rPr>
              <a:t>5</a:t>
            </a:r>
            <a:r>
              <a:rPr lang="zh-CN" altLang="en-US" sz="1400" dirty="0">
                <a:latin typeface="Arial" panose="020B0604020202020204" pitchFamily="34" charset="0"/>
              </a:rPr>
              <a:t>分制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zh-CN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图灵测试部分：</a:t>
            </a:r>
            <a:r>
              <a:rPr lang="en-US" altLang="zh-CN" sz="1400" dirty="0">
                <a:latin typeface="Arial" panose="020B0604020202020204" pitchFamily="34" charset="0"/>
              </a:rPr>
              <a:t> </a:t>
            </a:r>
            <a:r>
              <a:rPr lang="en-US" altLang="zh-CN" sz="1400" dirty="0" err="1">
                <a:latin typeface="Arial" panose="020B0604020202020204" pitchFamily="34" charset="0"/>
              </a:rPr>
              <a:t>gt+pred</a:t>
            </a:r>
            <a:r>
              <a:rPr lang="en-US" altLang="zh-CN" sz="1400" dirty="0">
                <a:latin typeface="Arial" panose="020B0604020202020204" pitchFamily="34" charset="0"/>
              </a:rPr>
              <a:t> </a:t>
            </a:r>
            <a:r>
              <a:rPr lang="zh-CN" altLang="en-US" sz="1400" dirty="0">
                <a:latin typeface="Arial" panose="020B0604020202020204" pitchFamily="34" charset="0"/>
              </a:rPr>
              <a:t>共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132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份报告，三个问题，两个阶段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154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1015-B33B-5179-A042-B28AFABF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1F6BF5-84A8-CE16-5877-FDB4EDCFFF77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66FDFA-1A22-1930-A181-A4735BAE1D6F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A7C7EE1-04DA-2A2F-75FD-BD167AF660FC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A55D988-3CE9-447A-E131-7214C77C5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24" y="526588"/>
            <a:ext cx="4742675" cy="176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预期多少数据？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Arial" panose="020B0604020202020204" pitchFamily="34" charset="0"/>
              </a:rPr>
              <a:t>可借鉴的规模：</a:t>
            </a:r>
            <a:r>
              <a:rPr lang="en-US" altLang="zh-CN" sz="1400" dirty="0">
                <a:latin typeface="Arial" panose="020B0604020202020204" pitchFamily="34" charset="0"/>
              </a:rPr>
              <a:t>3D-BrainCT </a:t>
            </a:r>
            <a:r>
              <a:rPr lang="zh-CN" altLang="en-US" sz="1400" dirty="0">
                <a:latin typeface="Arial" panose="020B0604020202020204" pitchFamily="34" charset="0"/>
              </a:rPr>
              <a:t>数据集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latin typeface="Arial" panose="020B0604020202020204" pitchFamily="34" charset="0"/>
              </a:rPr>
              <a:t>train: 7,751</a:t>
            </a:r>
            <a:r>
              <a:rPr lang="zh-CN" altLang="en-US" sz="1400" dirty="0">
                <a:latin typeface="Arial" panose="020B0604020202020204" pitchFamily="34" charset="0"/>
              </a:rPr>
              <a:t>名患者，</a:t>
            </a:r>
            <a:r>
              <a:rPr lang="en-US" altLang="zh-CN" sz="1400" dirty="0">
                <a:latin typeface="Arial" panose="020B0604020202020204" pitchFamily="34" charset="0"/>
              </a:rPr>
              <a:t>15247</a:t>
            </a:r>
            <a:r>
              <a:rPr lang="zh-CN" altLang="en-US" sz="1400" dirty="0">
                <a:latin typeface="Arial" panose="020B0604020202020204" pitchFamily="34" charset="0"/>
              </a:rPr>
              <a:t>个</a:t>
            </a:r>
            <a:r>
              <a:rPr lang="en-US" altLang="zh-CN" sz="1400" dirty="0">
                <a:latin typeface="Arial" panose="020B0604020202020204" pitchFamily="34" charset="0"/>
              </a:rPr>
              <a:t>CT</a:t>
            </a:r>
            <a:r>
              <a:rPr lang="zh-CN" altLang="en-US" sz="1400" dirty="0">
                <a:latin typeface="Arial" panose="020B0604020202020204" pitchFamily="34" charset="0"/>
              </a:rPr>
              <a:t>（多次扫描）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latin typeface="Arial" panose="020B0604020202020204" pitchFamily="34" charset="0"/>
              </a:rPr>
              <a:t>test: 1,938</a:t>
            </a:r>
            <a:r>
              <a:rPr lang="zh-CN" altLang="en-US" sz="1400" dirty="0">
                <a:latin typeface="Arial" panose="020B0604020202020204" pitchFamily="34" charset="0"/>
              </a:rPr>
              <a:t>名患者测试，</a:t>
            </a:r>
            <a:r>
              <a:rPr lang="en-US" altLang="zh-CN" sz="1400" dirty="0">
                <a:latin typeface="Arial" panose="020B0604020202020204" pitchFamily="34" charset="0"/>
              </a:rPr>
              <a:t>3638</a:t>
            </a:r>
            <a:r>
              <a:rPr lang="zh-CN" altLang="en-US" sz="1400" dirty="0">
                <a:latin typeface="Arial" panose="020B0604020202020204" pitchFamily="34" charset="0"/>
              </a:rPr>
              <a:t>个</a:t>
            </a:r>
            <a:r>
              <a:rPr lang="en-US" altLang="zh-CN" sz="1400" dirty="0">
                <a:latin typeface="Arial" panose="020B0604020202020204" pitchFamily="34" charset="0"/>
              </a:rPr>
              <a:t>CT </a:t>
            </a:r>
            <a:r>
              <a:rPr lang="zh-CN" altLang="en-US" sz="1400" dirty="0">
                <a:latin typeface="Arial" panose="020B0604020202020204" pitchFamily="34" charset="0"/>
              </a:rPr>
              <a:t>（多次扫描）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latin typeface="Arial" panose="020B0604020202020204" pitchFamily="34" charset="0"/>
              </a:rPr>
              <a:t>total : 9689</a:t>
            </a:r>
            <a:r>
              <a:rPr lang="zh-CN" altLang="en-US" sz="1400" dirty="0">
                <a:latin typeface="Arial" panose="020B0604020202020204" pitchFamily="34" charset="0"/>
              </a:rPr>
              <a:t>名患者，共</a:t>
            </a:r>
            <a:r>
              <a:rPr lang="en-US" altLang="zh-CN" sz="1400" dirty="0">
                <a:latin typeface="Arial" panose="020B0604020202020204" pitchFamily="34" charset="0"/>
              </a:rPr>
              <a:t>18885 </a:t>
            </a:r>
            <a:r>
              <a:rPr lang="zh-CN" altLang="en-US" sz="1400" dirty="0">
                <a:latin typeface="Arial" panose="020B0604020202020204" pitchFamily="34" charset="0"/>
              </a:rPr>
              <a:t>。 </a:t>
            </a:r>
            <a:r>
              <a:rPr lang="en-US" altLang="zh-CN" sz="1400" dirty="0">
                <a:latin typeface="Arial" panose="020B0604020202020204" pitchFamily="34" charset="0"/>
              </a:rPr>
              <a:t>+ </a:t>
            </a:r>
            <a:r>
              <a:rPr lang="zh-CN" altLang="en-US" sz="1400" dirty="0">
                <a:latin typeface="Arial" panose="020B0604020202020204" pitchFamily="34" charset="0"/>
              </a:rPr>
              <a:t>对应人工放射报告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7E75AC-A852-0F35-4DF9-17CE17CDA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81" y="2614297"/>
            <a:ext cx="2392280" cy="381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初步能拿到的数据量未知。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3126653-37A5-39D7-7E52-D7CDB1379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24" y="3332052"/>
            <a:ext cx="2392280" cy="381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Arial" panose="020B0604020202020204" pitchFamily="34" charset="0"/>
              </a:rPr>
              <a:t>预期需要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的支持：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9B07336-1B81-DA8E-6BFF-D44831D24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24" y="4034766"/>
            <a:ext cx="7192379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7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88110" y="428079"/>
            <a:ext cx="1379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96" b="1" dirty="0"/>
              <a:t>工作流程</a:t>
            </a:r>
            <a:endParaRPr lang="en-US" sz="2396" b="1" dirty="0"/>
          </a:p>
        </p:txBody>
      </p:sp>
      <p:sp>
        <p:nvSpPr>
          <p:cNvPr id="6" name="Shape 4"/>
          <p:cNvSpPr/>
          <p:nvPr/>
        </p:nvSpPr>
        <p:spPr>
          <a:xfrm>
            <a:off x="4382378" y="2504521"/>
            <a:ext cx="1322791" cy="411601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F0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145082" y="2632537"/>
            <a:ext cx="1807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</a:t>
            </a:r>
            <a:r>
              <a:rPr lang="en-US" sz="1340" b="1" dirty="0" err="1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r>
              <a:rPr 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定任务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5902028" y="2554873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345248" y="2500516"/>
            <a:ext cx="1712889" cy="446921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FF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80668" y="2632536"/>
            <a:ext cx="14420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定框架</a:t>
            </a:r>
            <a:r>
              <a:rPr lang="en-US" altLang="zh-CN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+</a:t>
            </a:r>
            <a:r>
              <a:rPr lang="zh-CN" alt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处理数据</a:t>
            </a:r>
            <a:endParaRPr lang="en-US" sz="134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381244" y="2554873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960383" y="2488752"/>
            <a:ext cx="823090" cy="446921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BE7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824961" y="2624777"/>
            <a:ext cx="10646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 err="1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跑评测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1384594" y="3276673"/>
            <a:ext cx="2228174" cy="499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</a:t>
            </a:r>
            <a:r>
              <a:rPr lang="zh-CN" altLang="en-US" sz="200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r>
              <a:rPr lang="en-US" altLang="zh-CN" sz="200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infra</a:t>
            </a:r>
            <a:endParaRPr lang="en-US" sz="20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B150450-F8C4-F2D7-D23E-CFFF38CD725A}"/>
              </a:ext>
            </a:extLst>
          </p:cNvPr>
          <p:cNvSpPr/>
          <p:nvPr/>
        </p:nvSpPr>
        <p:spPr>
          <a:xfrm rot="5400000">
            <a:off x="7073675" y="3042848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C8C30DF-0432-E2BC-E46B-55512F8B6D32}"/>
              </a:ext>
            </a:extLst>
          </p:cNvPr>
          <p:cNvSpPr/>
          <p:nvPr/>
        </p:nvSpPr>
        <p:spPr>
          <a:xfrm>
            <a:off x="6345248" y="3444815"/>
            <a:ext cx="1712889" cy="70097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FF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2E50058-56D4-1EE0-B18F-C386CD1DF93A}"/>
              </a:ext>
            </a:extLst>
          </p:cNvPr>
          <p:cNvSpPr/>
          <p:nvPr/>
        </p:nvSpPr>
        <p:spPr>
          <a:xfrm>
            <a:off x="6279790" y="3816068"/>
            <a:ext cx="18438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SFT</a:t>
            </a:r>
            <a:r>
              <a:rPr lang="zh-CN" altLang="en-US" sz="1200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或强化学习微调</a:t>
            </a:r>
            <a:endParaRPr lang="en-US" sz="1200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3261CDD-C2D9-CF3C-86A4-CAE6DCAA4130}"/>
              </a:ext>
            </a:extLst>
          </p:cNvPr>
          <p:cNvSpPr/>
          <p:nvPr/>
        </p:nvSpPr>
        <p:spPr>
          <a:xfrm>
            <a:off x="6480668" y="3548376"/>
            <a:ext cx="14420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训模型</a:t>
            </a:r>
            <a:endParaRPr lang="en-US" sz="134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2381ADB-70C2-3FF4-EC3A-A985C0B03C42}"/>
              </a:ext>
            </a:extLst>
          </p:cNvPr>
          <p:cNvSpPr/>
          <p:nvPr/>
        </p:nvSpPr>
        <p:spPr>
          <a:xfrm>
            <a:off x="8381244" y="3587826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BAEB5CAC-FA84-13FB-B5C8-8264C44A4424}"/>
              </a:ext>
            </a:extLst>
          </p:cNvPr>
          <p:cNvSpPr/>
          <p:nvPr/>
        </p:nvSpPr>
        <p:spPr>
          <a:xfrm rot="16200000">
            <a:off x="9243912" y="3257266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FF11ABFA-FDA3-2828-E9BC-33ADAE1B1085}"/>
              </a:ext>
            </a:extLst>
          </p:cNvPr>
          <p:cNvCxnSpPr>
            <a:stCxn id="24" idx="3"/>
            <a:endCxn id="10" idx="2"/>
          </p:cNvCxnSpPr>
          <p:nvPr/>
        </p:nvCxnSpPr>
        <p:spPr>
          <a:xfrm flipH="1">
            <a:off x="7201693" y="2712213"/>
            <a:ext cx="2581780" cy="1433574"/>
          </a:xfrm>
          <a:prstGeom prst="bentConnector4">
            <a:avLst>
              <a:gd name="adj1" fmla="val -13094"/>
              <a:gd name="adj2" fmla="val 12942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11">
            <a:extLst>
              <a:ext uri="{FF2B5EF4-FFF2-40B4-BE49-F238E27FC236}">
                <a16:creationId xmlns:a16="http://schemas.microsoft.com/office/drawing/2014/main" id="{B329821E-3C3F-35DD-1774-C45A9F344748}"/>
              </a:ext>
            </a:extLst>
          </p:cNvPr>
          <p:cNvSpPr/>
          <p:nvPr/>
        </p:nvSpPr>
        <p:spPr>
          <a:xfrm>
            <a:off x="8369869" y="4725956"/>
            <a:ext cx="10020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改进方法</a:t>
            </a:r>
            <a:endParaRPr lang="en-US" sz="134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BE8D7D3C-41FD-B458-78C0-0239B447AA3B}"/>
              </a:ext>
            </a:extLst>
          </p:cNvPr>
          <p:cNvSpPr/>
          <p:nvPr/>
        </p:nvSpPr>
        <p:spPr>
          <a:xfrm>
            <a:off x="4588805" y="2315373"/>
            <a:ext cx="5447763" cy="92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EEB674A-F7A5-1F73-5D90-516966970D8B}"/>
              </a:ext>
            </a:extLst>
          </p:cNvPr>
          <p:cNvSpPr/>
          <p:nvPr/>
        </p:nvSpPr>
        <p:spPr>
          <a:xfrm>
            <a:off x="4138726" y="844864"/>
            <a:ext cx="2845651" cy="77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3239</TotalTime>
  <Words>2171</Words>
  <Application>Microsoft Office PowerPoint</Application>
  <PresentationFormat>宽屏</PresentationFormat>
  <Paragraphs>186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Aptos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脑肿瘤 MRI 技术路线主干版</dc:title>
  <dc:subject>脑肿瘤 MRI 技术路线主干版</dc:subject>
  <dc:creator>OpenAI Codex</dc:creator>
  <cp:lastModifiedBy>兆熙 林</cp:lastModifiedBy>
  <cp:revision>35</cp:revision>
  <dcterms:created xsi:type="dcterms:W3CDTF">2026-03-09T10:45:54Z</dcterms:created>
  <dcterms:modified xsi:type="dcterms:W3CDTF">2026-03-24T13:12:54Z</dcterms:modified>
</cp:coreProperties>
</file>