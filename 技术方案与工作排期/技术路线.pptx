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9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AE55C4-B65D-6850-CDC2-AD2658642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D4D2FF5-6E37-1664-5A44-01D56C244F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619794-8BF1-63D4-7184-FB4910884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EC43-B335-4C85-9787-5DCC3E5F613C}" type="datetimeFigureOut">
              <a:rPr lang="zh-CN" altLang="en-US" smtClean="0"/>
              <a:t>2026-03-09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F36857-D8D6-B913-7BC9-96CC99D3C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711ED1-EB10-2F6D-596D-DFAA5E888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593D-6272-4E14-B6CB-8C075016C6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169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ED9C7D-5542-0058-A333-40285627F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61F1A7-B2EF-8785-2971-0BC670FF9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C78CE2-304B-1383-FB77-459E3DB6D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EC43-B335-4C85-9787-5DCC3E5F613C}" type="datetimeFigureOut">
              <a:rPr lang="zh-CN" altLang="en-US" smtClean="0"/>
              <a:t>2026-03-09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FC2784-9BB7-241A-10B2-D0AD4F1BC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7B69F3-F73F-1499-51A4-773D7BDFC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593D-6272-4E14-B6CB-8C075016C6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0650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2165F1-9691-ECDE-49A2-97F5E1740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D227E9-0526-49AD-D2CB-934CD8D92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BB186-84C4-CC34-5769-04C466EEA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EC43-B335-4C85-9787-5DCC3E5F613C}" type="datetimeFigureOut">
              <a:rPr lang="zh-CN" altLang="en-US" smtClean="0"/>
              <a:t>2026-03-09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38018F-AD51-B515-07C2-772A983E5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E5B46D-550F-6592-8E22-8802C4D40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593D-6272-4E14-B6CB-8C075016C6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615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438184-1112-5835-E5E5-AA85A439E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07B12E-C16D-D77A-C91E-F44151FA47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7BAEBB-D7AD-ECCF-CA0A-34744DAF93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2FF144-9BF5-57DE-72D1-9DDF44808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EC43-B335-4C85-9787-5DCC3E5F613C}" type="datetimeFigureOut">
              <a:rPr lang="zh-CN" altLang="en-US" smtClean="0"/>
              <a:t>2026-03-09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6BD276-E752-ACC4-CD08-B4C77EB84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580755-66F6-E19B-D058-208E70968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593D-6272-4E14-B6CB-8C075016C6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203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FBEFAB-3807-0E93-7628-F707F6961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63D7BF-5039-F997-49A5-3140CE80B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DF91AF9-0D9C-FC94-1579-4474A3985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E5F3DAA-2DC2-62FA-CA02-2C7936D6E8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A519FFC-48AC-FA44-2E95-CFAD4D7176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A155CF4-F989-AAAE-64F4-C21BBF0AD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EC43-B335-4C85-9787-5DCC3E5F613C}" type="datetimeFigureOut">
              <a:rPr lang="zh-CN" altLang="en-US" smtClean="0"/>
              <a:t>2026-03-09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C829B9F-BEF0-D44C-DFEF-E1F6C98DC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1E9B368-3729-C418-0224-E5A8CBF4B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593D-6272-4E14-B6CB-8C075016C6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330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A65478-7349-70A4-D6E4-BB0E91B69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F028F1B-1C96-EAFE-2004-A01F4485D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EC43-B335-4C85-9787-5DCC3E5F613C}" type="datetimeFigureOut">
              <a:rPr lang="zh-CN" altLang="en-US" smtClean="0"/>
              <a:t>2026-03-09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C121F83-D980-0C76-21DF-862320609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EC08FF5-5566-F42D-65DD-1A4AD8E39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593D-6272-4E14-B6CB-8C075016C6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049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1264D29-D659-5987-D3B4-AED94C811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EC43-B335-4C85-9787-5DCC3E5F613C}" type="datetimeFigureOut">
              <a:rPr lang="zh-CN" altLang="en-US" smtClean="0"/>
              <a:t>2026-03-09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1C08EB4-BF81-B479-1441-BA6E19C5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58158C-4ADB-365E-34BB-61C41EB7F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593D-6272-4E14-B6CB-8C075016C6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118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71A500-D7EB-D2B1-67F8-DEC4C2830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263B7B-53AB-CABE-77A3-B822DA1D7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5A411E-D9CB-0309-9536-F591024198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AD62D1-101E-E498-AAC3-FA5264517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EC43-B335-4C85-9787-5DCC3E5F613C}" type="datetimeFigureOut">
              <a:rPr lang="zh-CN" altLang="en-US" smtClean="0"/>
              <a:t>2026-03-09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108A80-957B-1B01-831E-6F3FEA87F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0A2667-7C3B-0C15-1049-8C271B02C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593D-6272-4E14-B6CB-8C075016C6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919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018AF4-67A1-B38E-CC55-A1C246CAC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AA5146F-D833-F6AF-05D8-9551B5D417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AD73476-DD02-42C5-5CA8-1D3CE66DED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4613C3-E68B-1318-91C9-2D934C4F9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EC43-B335-4C85-9787-5DCC3E5F613C}" type="datetimeFigureOut">
              <a:rPr lang="zh-CN" altLang="en-US" smtClean="0"/>
              <a:t>2026-03-09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796C62-887E-D857-79CF-447028563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0E6BD0-C560-CC1C-E9C4-7DD50DFE8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593D-6272-4E14-B6CB-8C075016C6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723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011F4B-495D-F270-0562-1A85DCC4B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8D8ECEC-962F-8164-A7C4-5731E4070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89DAB2-3A33-B756-5656-81D162E56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EC43-B335-4C85-9787-5DCC3E5F613C}" type="datetimeFigureOut">
              <a:rPr lang="zh-CN" altLang="en-US" smtClean="0"/>
              <a:t>2026-03-09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16D029-8956-B66E-7C5C-371F56CF8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375B7A-8D39-973B-3A6E-D92C33C0E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593D-6272-4E14-B6CB-8C075016C6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6056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93E68A5-170F-54B6-1083-D5F2FFB843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AE09BC-C098-7CC8-9677-035533277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FCDBE0-8926-58EA-1522-9C141319B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EC43-B335-4C85-9787-5DCC3E5F613C}" type="datetimeFigureOut">
              <a:rPr lang="zh-CN" altLang="en-US" smtClean="0"/>
              <a:t>2026-03-09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02C24D-1E08-0FD7-8D4F-45ACA51B6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02676D-116C-E6A3-60DB-97C17BBD8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593D-6272-4E14-B6CB-8C075016C6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2895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CBB3D6A-947D-9F17-AAFD-A89EBEA19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9FFD22-E43E-E12A-6F5A-0E083B457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19A6CC-FC25-50C5-5AF9-74F4D79013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9EC43-B335-4C85-9787-5DCC3E5F613C}" type="datetimeFigureOut">
              <a:rPr lang="zh-CN" altLang="en-US" smtClean="0"/>
              <a:t>2026-03-09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65CB80-E394-97E0-9FE6-EE7047670D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D43151-5240-D192-A857-25C4755EDA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B2593D-6272-4E14-B6CB-8C075016C6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023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C8761F8-12A6-3E63-7DFC-CD014FF7FA3A}"/>
              </a:ext>
            </a:extLst>
          </p:cNvPr>
          <p:cNvSpPr txBox="1"/>
          <p:nvPr/>
        </p:nvSpPr>
        <p:spPr>
          <a:xfrm>
            <a:off x="367657" y="382376"/>
            <a:ext cx="396634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构建面向神经外科疾病的大规模诊疗异构数据库。</a:t>
            </a:r>
            <a:r>
              <a:rPr lang="zh-CN" altLang="en-US" sz="1400" dirty="0"/>
              <a:t>本项目拟构建包括患者术前诊疗报告、医学影像、康复随访的诊疗数据库，研究数据脱敏及数据样本对齐方法，构建患者医学影像数据的预处理及存储技术，建立患者诊疗报告、术后随访等文本数据的临床语料数据库，并进行训练集</a:t>
            </a:r>
            <a:r>
              <a:rPr lang="en-US" altLang="zh-CN" sz="1400" dirty="0"/>
              <a:t>-</a:t>
            </a:r>
            <a:r>
              <a:rPr lang="zh-CN" altLang="en-US" sz="1400" dirty="0"/>
              <a:t>测试集划分，从而为本项目的开展提供坚实的数据基础。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02C97B-E9D2-8ABD-045D-DC11EBD69006}"/>
              </a:ext>
            </a:extLst>
          </p:cNvPr>
          <p:cNvSpPr txBox="1"/>
          <p:nvPr/>
        </p:nvSpPr>
        <p:spPr>
          <a:xfrm>
            <a:off x="367657" y="2430381"/>
            <a:ext cx="407136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研究影像</a:t>
            </a:r>
            <a:r>
              <a:rPr lang="en-US" altLang="zh-CN" sz="1400" b="1" dirty="0"/>
              <a:t>-</a:t>
            </a:r>
            <a:r>
              <a:rPr lang="zh-CN" altLang="en-US" sz="1400" b="1" dirty="0"/>
              <a:t>文本多模态信息的特征抽取方法。</a:t>
            </a:r>
            <a:r>
              <a:rPr lang="zh-CN" altLang="en-US" sz="1400" dirty="0"/>
              <a:t>针对术前</a:t>
            </a:r>
            <a:r>
              <a:rPr lang="en-US" altLang="zh-CN" sz="1400" dirty="0"/>
              <a:t>CT</a:t>
            </a:r>
            <a:r>
              <a:rPr lang="zh-CN" altLang="en-US" sz="1400" dirty="0"/>
              <a:t>影像、</a:t>
            </a:r>
            <a:r>
              <a:rPr lang="en-US" altLang="zh-CN" sz="1400" dirty="0"/>
              <a:t>MRI</a:t>
            </a:r>
            <a:r>
              <a:rPr lang="zh-CN" altLang="en-US" sz="1400" dirty="0"/>
              <a:t>影像等影像学信息，构建基于空间注意力机制的</a:t>
            </a:r>
            <a:r>
              <a:rPr lang="zh-CN" altLang="en-US" sz="1400" b="1" dirty="0">
                <a:solidFill>
                  <a:schemeClr val="accent6"/>
                </a:solidFill>
              </a:rPr>
              <a:t>影像特征提取网络</a:t>
            </a:r>
            <a:r>
              <a:rPr lang="zh-CN" altLang="en-US" sz="1400" dirty="0"/>
              <a:t>，将病灶特征、水肿区域、病理特点映射为高维特征向量。针对诊断报告、随访报告等文本信息，建立基于关键特征词的语义映射表，提出</a:t>
            </a:r>
            <a:r>
              <a:rPr lang="zh-CN" altLang="en-US" sz="1400" b="1" dirty="0">
                <a:solidFill>
                  <a:schemeClr val="accent6"/>
                </a:solidFill>
              </a:rPr>
              <a:t>基于三元组特征和相似度特征</a:t>
            </a:r>
            <a:r>
              <a:rPr lang="zh-CN" altLang="en-US" sz="1400" dirty="0"/>
              <a:t>的语义特征提取方法。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277E637-9FBC-C594-45DB-AF94D4C602E0}"/>
              </a:ext>
            </a:extLst>
          </p:cNvPr>
          <p:cNvSpPr txBox="1"/>
          <p:nvPr/>
        </p:nvSpPr>
        <p:spPr>
          <a:xfrm>
            <a:off x="367657" y="4262942"/>
            <a:ext cx="40713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建立患者诊断</a:t>
            </a:r>
            <a:r>
              <a:rPr lang="en-US" altLang="zh-CN" sz="1400" b="1" dirty="0"/>
              <a:t>-</a:t>
            </a:r>
            <a:r>
              <a:rPr lang="zh-CN" altLang="en-US" sz="1400" b="1" dirty="0"/>
              <a:t>治疗</a:t>
            </a:r>
            <a:r>
              <a:rPr lang="en-US" altLang="zh-CN" sz="1400" b="1" dirty="0"/>
              <a:t>-</a:t>
            </a:r>
            <a:r>
              <a:rPr lang="zh-CN" altLang="en-US" sz="1400" b="1" dirty="0"/>
              <a:t>康复的智能大模型及微调方法。</a:t>
            </a:r>
            <a:r>
              <a:rPr lang="zh-CN" altLang="en-US" sz="1400" dirty="0"/>
              <a:t>综合患者术前诊疗数据的特征，建立基于</a:t>
            </a:r>
            <a:r>
              <a:rPr lang="en-US" altLang="zh-CN" sz="1400" dirty="0"/>
              <a:t>Qwen3-VL</a:t>
            </a:r>
            <a:r>
              <a:rPr lang="zh-CN" altLang="en-US" sz="1400" dirty="0"/>
              <a:t>的神经外科疾病智能诊断大模型，构建</a:t>
            </a:r>
            <a:r>
              <a:rPr lang="zh-CN" altLang="en-US" sz="1400" b="1" dirty="0">
                <a:solidFill>
                  <a:schemeClr val="accent6"/>
                </a:solidFill>
              </a:rPr>
              <a:t>基于向量距离置信度的特征权重融合方法</a:t>
            </a:r>
            <a:r>
              <a:rPr lang="zh-CN" altLang="en-US" sz="1400" dirty="0"/>
              <a:t>，实现术前多模态信息的融合。以此为基础，针对神经外科疾病术前诊断、术中指导、术后康复等多下游临床任务，建立基于低</a:t>
            </a:r>
            <a:r>
              <a:rPr lang="zh-CN" altLang="en-US" sz="1400" b="1" dirty="0">
                <a:solidFill>
                  <a:schemeClr val="accent6"/>
                </a:solidFill>
              </a:rPr>
              <a:t>秩混合矩阵的大模型微调框架</a:t>
            </a:r>
            <a:r>
              <a:rPr lang="zh-CN" altLang="en-US" sz="1400" dirty="0"/>
              <a:t>，实现资源受限时的模型参数高效微调，最终实现神经外科疾病的智能诊疗。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C528458-FBAB-E0B6-B404-E48117226B0B}"/>
              </a:ext>
            </a:extLst>
          </p:cNvPr>
          <p:cNvSpPr txBox="1"/>
          <p:nvPr/>
        </p:nvSpPr>
        <p:spPr>
          <a:xfrm>
            <a:off x="5635145" y="2644471"/>
            <a:ext cx="60970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如何在资源受限条件下，把神经外科影像、诊疗文本和随访信息映射到统一语义空间，并通过参数高效微调，让大模型完成辅助诊断</a:t>
            </a:r>
            <a:r>
              <a:rPr lang="en-US" altLang="zh-CN" dirty="0"/>
              <a:t>/</a:t>
            </a:r>
            <a:r>
              <a:rPr lang="zh-CN" altLang="en-US" dirty="0"/>
              <a:t>病例检索</a:t>
            </a:r>
            <a:r>
              <a:rPr lang="en-US" altLang="zh-CN" dirty="0"/>
              <a:t>/</a:t>
            </a:r>
            <a:r>
              <a:rPr lang="zh-CN" altLang="en-US" dirty="0"/>
              <a:t>报告生成等下游任务？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4A7A7C5-69D1-BC9F-8466-DE4D26F3E00D}"/>
              </a:ext>
            </a:extLst>
          </p:cNvPr>
          <p:cNvSpPr txBox="1"/>
          <p:nvPr/>
        </p:nvSpPr>
        <p:spPr>
          <a:xfrm>
            <a:off x="7639964" y="2330763"/>
            <a:ext cx="13003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整理后的主线</a:t>
            </a:r>
            <a:endParaRPr lang="en-US" altLang="zh-CN" sz="1400" b="1" dirty="0">
              <a:solidFill>
                <a:srgbClr val="FF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2D12D4F-EC8B-E11E-50D6-21DE47515D18}"/>
              </a:ext>
            </a:extLst>
          </p:cNvPr>
          <p:cNvSpPr txBox="1"/>
          <p:nvPr/>
        </p:nvSpPr>
        <p:spPr>
          <a:xfrm>
            <a:off x="411499" y="2141725"/>
            <a:ext cx="3490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已经有很多现成范式，没必要重复造轮子</a:t>
            </a:r>
            <a:endParaRPr lang="en-US" altLang="zh-CN" sz="1400" b="1" dirty="0">
              <a:solidFill>
                <a:srgbClr val="FF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20C343D-F475-4142-9913-D447E30FB9F9}"/>
              </a:ext>
            </a:extLst>
          </p:cNvPr>
          <p:cNvSpPr txBox="1"/>
          <p:nvPr/>
        </p:nvSpPr>
        <p:spPr>
          <a:xfrm>
            <a:off x="1836651" y="74599"/>
            <a:ext cx="11333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数据基础</a:t>
            </a:r>
            <a:endParaRPr lang="en-US" altLang="zh-CN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2801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4324E-B329-270C-E7B1-7C00BFD2E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866982E-DC18-DDDD-33CE-92073E3834D7}"/>
              </a:ext>
            </a:extLst>
          </p:cNvPr>
          <p:cNvSpPr txBox="1"/>
          <p:nvPr/>
        </p:nvSpPr>
        <p:spPr>
          <a:xfrm>
            <a:off x="2105960" y="1101733"/>
            <a:ext cx="11333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数据基础</a:t>
            </a:r>
            <a:endParaRPr lang="en-US" altLang="zh-CN" sz="1400" b="1" dirty="0">
              <a:solidFill>
                <a:srgbClr val="FF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65B1DC-17CD-D5C2-5982-EF1133E4273C}"/>
              </a:ext>
            </a:extLst>
          </p:cNvPr>
          <p:cNvSpPr txBox="1"/>
          <p:nvPr/>
        </p:nvSpPr>
        <p:spPr>
          <a:xfrm>
            <a:off x="599388" y="1503456"/>
            <a:ext cx="39663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构建面向神经外科疾病的大规模诊疗异构数据库。</a:t>
            </a:r>
            <a:endParaRPr lang="zh-CN" altLang="en-US" sz="1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7FD53AE-54AC-4FE6-CCB2-4BA6D1CA80C7}"/>
              </a:ext>
            </a:extLst>
          </p:cNvPr>
          <p:cNvSpPr txBox="1"/>
          <p:nvPr/>
        </p:nvSpPr>
        <p:spPr>
          <a:xfrm>
            <a:off x="599387" y="1860628"/>
            <a:ext cx="4836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先收缩成</a:t>
            </a:r>
            <a:r>
              <a:rPr lang="zh-CN" altLang="en-US" sz="1400" b="1" dirty="0">
                <a:solidFill>
                  <a:srgbClr val="FF0000"/>
                </a:solidFill>
              </a:rPr>
              <a:t>特定病种</a:t>
            </a:r>
            <a:r>
              <a:rPr lang="zh-CN" altLang="en-US" sz="1400" dirty="0"/>
              <a:t>进行调研</a:t>
            </a:r>
            <a:endParaRPr lang="en-US" altLang="zh-CN" sz="1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C00D790-3076-BFB8-4D64-30B97DE9DDFF}"/>
              </a:ext>
            </a:extLst>
          </p:cNvPr>
          <p:cNvSpPr txBox="1"/>
          <p:nvPr/>
        </p:nvSpPr>
        <p:spPr>
          <a:xfrm>
            <a:off x="599388" y="3304004"/>
            <a:ext cx="5598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构建面向特定神经外科疾病的诊疗异构数据库。</a:t>
            </a:r>
            <a:r>
              <a:rPr lang="en-US" altLang="zh-CN" sz="1400" b="1" dirty="0"/>
              <a:t>-&gt;</a:t>
            </a:r>
            <a:r>
              <a:rPr lang="zh-CN" altLang="en-US" sz="1400" b="1" dirty="0"/>
              <a:t>脑肿瘤、脑出血</a:t>
            </a:r>
            <a:endParaRPr lang="zh-CN" altLang="en-US" sz="1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009A1FD-3950-74EC-995E-68510BAD2D04}"/>
              </a:ext>
            </a:extLst>
          </p:cNvPr>
          <p:cNvSpPr txBox="1"/>
          <p:nvPr/>
        </p:nvSpPr>
        <p:spPr>
          <a:xfrm>
            <a:off x="1690673" y="2852071"/>
            <a:ext cx="19639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优先构建最小数据闭环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4C33D53-DC2E-E5B9-146B-403472F0E1FD}"/>
              </a:ext>
            </a:extLst>
          </p:cNvPr>
          <p:cNvSpPr txBox="1"/>
          <p:nvPr/>
        </p:nvSpPr>
        <p:spPr>
          <a:xfrm>
            <a:off x="599387" y="3900093"/>
            <a:ext cx="59192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TODO</a:t>
            </a:r>
            <a:r>
              <a:rPr lang="zh-CN" altLang="en-US" sz="1400" dirty="0"/>
              <a:t>： </a:t>
            </a:r>
            <a:endParaRPr lang="en-US" altLang="zh-CN" sz="1400" dirty="0"/>
          </a:p>
          <a:p>
            <a:br>
              <a:rPr lang="en-US" altLang="zh-CN" sz="1400" dirty="0"/>
            </a:br>
            <a:r>
              <a:rPr lang="en-US" altLang="zh-CN" sz="1400" dirty="0"/>
              <a:t>1.</a:t>
            </a:r>
            <a:r>
              <a:rPr lang="zh-CN" altLang="en-US" sz="1400" dirty="0"/>
              <a:t> 调研医疗</a:t>
            </a:r>
            <a:r>
              <a:rPr lang="en-US" altLang="zh-CN" sz="1400" dirty="0" err="1"/>
              <a:t>MLLm</a:t>
            </a:r>
            <a:r>
              <a:rPr lang="en-US" altLang="zh-CN" sz="1400" dirty="0"/>
              <a:t> </a:t>
            </a:r>
            <a:r>
              <a:rPr lang="zh-CN" altLang="en-US" sz="1400" dirty="0"/>
              <a:t>微调数据训练格式和范式，给出相关技术报告以及方案</a:t>
            </a:r>
            <a:r>
              <a:rPr lang="en-US" altLang="zh-CN" sz="1400" dirty="0"/>
              <a:t>  </a:t>
            </a:r>
            <a:endParaRPr lang="zh-CN" altLang="en-US" sz="1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12C94C3-0B9A-B04F-B9E5-2298F3C2BE92}"/>
              </a:ext>
            </a:extLst>
          </p:cNvPr>
          <p:cNvSpPr txBox="1"/>
          <p:nvPr/>
        </p:nvSpPr>
        <p:spPr>
          <a:xfrm>
            <a:off x="8529105" y="988441"/>
            <a:ext cx="1162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数据来源：</a:t>
            </a: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E4587129-5E1E-3B84-B445-804A25178F1A}"/>
              </a:ext>
            </a:extLst>
          </p:cNvPr>
          <p:cNvGraphicFramePr>
            <a:graphicFrameLocks noGrp="1"/>
          </p:cNvGraphicFramePr>
          <p:nvPr/>
        </p:nvGraphicFramePr>
        <p:xfrm>
          <a:off x="6901841" y="1412528"/>
          <a:ext cx="441681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408">
                  <a:extLst>
                    <a:ext uri="{9D8B030D-6E8A-4147-A177-3AD203B41FA5}">
                      <a16:colId xmlns:a16="http://schemas.microsoft.com/office/drawing/2014/main" val="1614288236"/>
                    </a:ext>
                  </a:extLst>
                </a:gridCol>
                <a:gridCol w="2208408">
                  <a:extLst>
                    <a:ext uri="{9D8B030D-6E8A-4147-A177-3AD203B41FA5}">
                      <a16:colId xmlns:a16="http://schemas.microsoft.com/office/drawing/2014/main" val="1366990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开源数据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私有数据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418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399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365646"/>
                  </a:ext>
                </a:extLst>
              </a:tr>
            </a:tbl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C0D81667-9862-72A0-7C07-90125DB6C8C7}"/>
              </a:ext>
            </a:extLst>
          </p:cNvPr>
          <p:cNvSpPr txBox="1"/>
          <p:nvPr/>
        </p:nvSpPr>
        <p:spPr>
          <a:xfrm>
            <a:off x="4827740" y="329589"/>
            <a:ext cx="2536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DATA Infra</a:t>
            </a:r>
            <a:r>
              <a:rPr lang="zh-CN" altLang="en-US" sz="1400" b="1" dirty="0">
                <a:solidFill>
                  <a:srgbClr val="FF0000"/>
                </a:solidFill>
              </a:rPr>
              <a:t>（数据基础设施）</a:t>
            </a:r>
            <a:endParaRPr lang="en-US" altLang="zh-CN" sz="1400" b="1" dirty="0">
              <a:solidFill>
                <a:srgbClr val="FF000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C1A9381-6FB7-965D-9897-45CC807A167E}"/>
              </a:ext>
            </a:extLst>
          </p:cNvPr>
          <p:cNvSpPr txBox="1"/>
          <p:nvPr/>
        </p:nvSpPr>
        <p:spPr>
          <a:xfrm>
            <a:off x="599385" y="4738039"/>
            <a:ext cx="5919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2. </a:t>
            </a:r>
            <a:r>
              <a:rPr lang="zh-CN" altLang="en-US" sz="1400" dirty="0"/>
              <a:t>收集整理这两个病种下的可用开源数据集 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B8DF653-03DA-DD0F-47AB-26D0C5E4990A}"/>
              </a:ext>
            </a:extLst>
          </p:cNvPr>
          <p:cNvSpPr txBox="1"/>
          <p:nvPr/>
        </p:nvSpPr>
        <p:spPr>
          <a:xfrm>
            <a:off x="599385" y="5145099"/>
            <a:ext cx="5919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3. </a:t>
            </a:r>
            <a:r>
              <a:rPr lang="zh-CN" altLang="en-US" sz="1400" dirty="0"/>
              <a:t>收集整理这两个病种下的私有医院数据集</a:t>
            </a:r>
            <a:endParaRPr lang="en-US" altLang="zh-CN" sz="14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D988498-0249-DFA9-0693-548165ED2DD4}"/>
              </a:ext>
            </a:extLst>
          </p:cNvPr>
          <p:cNvSpPr txBox="1"/>
          <p:nvPr/>
        </p:nvSpPr>
        <p:spPr>
          <a:xfrm>
            <a:off x="599385" y="5552159"/>
            <a:ext cx="1047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4. </a:t>
            </a:r>
            <a:r>
              <a:rPr lang="zh-CN" altLang="en-US" sz="1400" dirty="0"/>
              <a:t>根据调研结果， 制定用于微调的数据接入格式以及相关存储格式， 以文档形式固定下来，方便后续工作复用</a:t>
            </a:r>
            <a:r>
              <a:rPr lang="en-US" altLang="zh-CN" sz="1400" dirty="0"/>
              <a:t> </a:t>
            </a:r>
            <a:endParaRPr lang="zh-CN" altLang="en-US" sz="1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99586A8-4A7D-B2D5-AFF5-14E60F308DD6}"/>
              </a:ext>
            </a:extLst>
          </p:cNvPr>
          <p:cNvSpPr txBox="1"/>
          <p:nvPr/>
        </p:nvSpPr>
        <p:spPr>
          <a:xfrm>
            <a:off x="599385" y="6001137"/>
            <a:ext cx="70418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如果暂时没有足够院内成对数据，脑肿瘤方向有公开的 </a:t>
            </a:r>
            <a:r>
              <a:rPr lang="en-US" altLang="zh-CN" sz="1200" dirty="0" err="1"/>
              <a:t>BraTS</a:t>
            </a:r>
            <a:r>
              <a:rPr lang="en-US" altLang="zh-CN" sz="1200" dirty="0"/>
              <a:t> </a:t>
            </a:r>
            <a:r>
              <a:rPr lang="zh-CN" altLang="en-US" sz="1200" dirty="0"/>
              <a:t>生态，以及最近出现的 </a:t>
            </a:r>
            <a:r>
              <a:rPr lang="en-US" altLang="zh-CN" sz="1200" dirty="0" err="1"/>
              <a:t>TextBraTS</a:t>
            </a:r>
            <a:r>
              <a:rPr lang="zh-CN" altLang="en-US" sz="1200" dirty="0"/>
              <a:t>、</a:t>
            </a:r>
            <a:r>
              <a:rPr lang="en-US" altLang="zh-CN" sz="1200" dirty="0"/>
              <a:t>NOVA </a:t>
            </a:r>
            <a:r>
              <a:rPr lang="zh-CN" altLang="en-US" sz="1200" dirty="0"/>
              <a:t>这类更贴近脑 </a:t>
            </a:r>
            <a:r>
              <a:rPr lang="en-US" altLang="zh-CN" sz="1200" dirty="0"/>
              <a:t>MRI </a:t>
            </a:r>
            <a:r>
              <a:rPr lang="zh-CN" altLang="en-US" sz="1200" dirty="0"/>
              <a:t>的多模态资源，</a:t>
            </a:r>
            <a:r>
              <a:rPr lang="zh-CN" altLang="en-US" sz="1200" b="1" dirty="0">
                <a:solidFill>
                  <a:srgbClr val="FF0000"/>
                </a:solidFill>
              </a:rPr>
              <a:t>可先做方法验证，推动方法闭环</a:t>
            </a:r>
            <a:r>
              <a:rPr lang="zh-CN" altLang="en-US" sz="1200" dirty="0"/>
              <a:t>。</a:t>
            </a:r>
            <a:r>
              <a:rPr lang="en-US" altLang="zh-CN" sz="1200" dirty="0" err="1"/>
              <a:t>TextBraTS</a:t>
            </a:r>
            <a:r>
              <a:rPr lang="en-US" altLang="zh-CN" sz="1200" dirty="0"/>
              <a:t> </a:t>
            </a:r>
            <a:r>
              <a:rPr lang="zh-CN" altLang="en-US" sz="1200" dirty="0"/>
              <a:t>提供了脑肿瘤 </a:t>
            </a:r>
            <a:r>
              <a:rPr lang="en-US" altLang="zh-CN" sz="1200" dirty="0"/>
              <a:t>MRI </a:t>
            </a:r>
            <a:r>
              <a:rPr lang="zh-CN" altLang="en-US" sz="1200" dirty="0"/>
              <a:t>与文本描述配对</a:t>
            </a:r>
          </a:p>
        </p:txBody>
      </p:sp>
    </p:spTree>
    <p:extLst>
      <p:ext uri="{BB962C8B-B14F-4D97-AF65-F5344CB8AC3E}">
        <p14:creationId xmlns:p14="http://schemas.microsoft.com/office/powerpoint/2010/main" val="2188750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8B2F1-D49D-82A3-8600-A51C71C46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F8548368-096D-80CD-C56F-7B995C246D6D}"/>
              </a:ext>
            </a:extLst>
          </p:cNvPr>
          <p:cNvSpPr txBox="1"/>
          <p:nvPr/>
        </p:nvSpPr>
        <p:spPr>
          <a:xfrm>
            <a:off x="980646" y="677291"/>
            <a:ext cx="1162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文本表征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BB900A8-31F6-BC69-3611-796FBB4D7F5F}"/>
              </a:ext>
            </a:extLst>
          </p:cNvPr>
          <p:cNvSpPr txBox="1"/>
          <p:nvPr/>
        </p:nvSpPr>
        <p:spPr>
          <a:xfrm>
            <a:off x="5598204" y="277102"/>
            <a:ext cx="854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模型侧</a:t>
            </a:r>
            <a:endParaRPr lang="en-US" altLang="zh-CN" sz="1400" b="1" dirty="0">
              <a:solidFill>
                <a:srgbClr val="FF000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977A6DC-902B-49B2-DE8F-F19588A14EB4}"/>
              </a:ext>
            </a:extLst>
          </p:cNvPr>
          <p:cNvSpPr txBox="1"/>
          <p:nvPr/>
        </p:nvSpPr>
        <p:spPr>
          <a:xfrm>
            <a:off x="980646" y="1209252"/>
            <a:ext cx="2765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结构化抽取 </a:t>
            </a:r>
            <a:r>
              <a:rPr lang="en-US" altLang="zh-CN" sz="1400" b="1" dirty="0"/>
              <a:t>+ embedding </a:t>
            </a:r>
            <a:r>
              <a:rPr lang="zh-CN" altLang="en-US" sz="1400" b="1" dirty="0"/>
              <a:t>化</a:t>
            </a:r>
            <a:r>
              <a:rPr lang="zh-CN" altLang="en-US" sz="1400" dirty="0"/>
              <a:t>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F3514E8-B316-F29B-974C-9BCFCB506CFC}"/>
              </a:ext>
            </a:extLst>
          </p:cNvPr>
          <p:cNvSpPr txBox="1"/>
          <p:nvPr/>
        </p:nvSpPr>
        <p:spPr>
          <a:xfrm>
            <a:off x="980646" y="1572332"/>
            <a:ext cx="4867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结构化抽取：用模型把原本杂乱的临床自由文本，整理成统一格式的结构化数据</a:t>
            </a:r>
            <a:r>
              <a:rPr lang="zh-CN" altLang="en-US" sz="1400" dirty="0"/>
              <a:t>。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4B39912-30A2-6DDA-52C6-04E37A72344F}"/>
              </a:ext>
            </a:extLst>
          </p:cNvPr>
          <p:cNvSpPr txBox="1"/>
          <p:nvPr/>
        </p:nvSpPr>
        <p:spPr>
          <a:xfrm>
            <a:off x="896643" y="2435184"/>
            <a:ext cx="6096000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400" b="1" dirty="0"/>
              <a:t>原始文本可能是这样的：</a:t>
            </a:r>
          </a:p>
          <a:p>
            <a:pPr>
              <a:buNone/>
            </a:pPr>
            <a:r>
              <a:rPr lang="zh-CN" altLang="en-US" sz="1100" b="1" dirty="0"/>
              <a:t>诊断报告</a:t>
            </a:r>
          </a:p>
          <a:p>
            <a:pPr>
              <a:buNone/>
            </a:pPr>
            <a:r>
              <a:rPr lang="zh-CN" altLang="en-US" sz="1100" dirty="0"/>
              <a:t>右侧额叶见占位性病变，大小约</a:t>
            </a:r>
            <a:r>
              <a:rPr lang="en-US" altLang="zh-CN" sz="1100" dirty="0"/>
              <a:t>3.2cm×2.8cm</a:t>
            </a:r>
            <a:r>
              <a:rPr lang="zh-CN" altLang="en-US" sz="1100" dirty="0"/>
              <a:t>，周围大片水肿，中线轻度左移，增强扫描呈不均匀强化，考虑高级别胶质瘤可能。</a:t>
            </a:r>
          </a:p>
          <a:p>
            <a:pPr>
              <a:buNone/>
            </a:pPr>
            <a:r>
              <a:rPr lang="zh-CN" altLang="en-US" sz="1100" b="1" dirty="0"/>
              <a:t>手术记录</a:t>
            </a:r>
          </a:p>
          <a:p>
            <a:pPr>
              <a:buNone/>
            </a:pPr>
            <a:r>
              <a:rPr lang="zh-CN" altLang="en-US" sz="1100" dirty="0"/>
              <a:t>全麻下行右额开颅肿瘤切除术，术中见肿瘤血供丰富，与周围脑组织分界不清。</a:t>
            </a:r>
          </a:p>
          <a:p>
            <a:pPr>
              <a:buNone/>
            </a:pPr>
            <a:r>
              <a:rPr lang="zh-CN" altLang="en-US" sz="1100" b="1" dirty="0"/>
              <a:t>病理报告</a:t>
            </a:r>
          </a:p>
          <a:p>
            <a:pPr>
              <a:buNone/>
            </a:pPr>
            <a:r>
              <a:rPr lang="zh-CN" altLang="en-US" sz="1100" dirty="0"/>
              <a:t>病理结果提示胶质母细胞瘤，</a:t>
            </a:r>
            <a:r>
              <a:rPr lang="en-US" altLang="zh-CN" sz="1100" dirty="0"/>
              <a:t>WHO 4</a:t>
            </a:r>
            <a:r>
              <a:rPr lang="zh-CN" altLang="en-US" sz="1100" dirty="0"/>
              <a:t>级。</a:t>
            </a:r>
          </a:p>
          <a:p>
            <a:pPr>
              <a:buNone/>
            </a:pPr>
            <a:r>
              <a:rPr lang="zh-CN" altLang="en-US" sz="1100" b="1" dirty="0"/>
              <a:t>随访记录</a:t>
            </a:r>
          </a:p>
          <a:p>
            <a:pPr>
              <a:buNone/>
            </a:pPr>
            <a:r>
              <a:rPr lang="zh-CN" altLang="en-US" sz="1100" dirty="0"/>
              <a:t>术后</a:t>
            </a:r>
            <a:r>
              <a:rPr lang="en-US" altLang="zh-CN" sz="1100" dirty="0"/>
              <a:t>3</a:t>
            </a:r>
            <a:r>
              <a:rPr lang="zh-CN" altLang="en-US" sz="1100" dirty="0"/>
              <a:t>个月复查</a:t>
            </a:r>
            <a:r>
              <a:rPr lang="en-US" altLang="zh-CN" sz="1100" dirty="0"/>
              <a:t>MRI</a:t>
            </a:r>
            <a:r>
              <a:rPr lang="zh-CN" altLang="en-US" sz="1100" dirty="0"/>
              <a:t>提示术区局部强化，考虑肿瘤复发可能。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FA58BA7-A1BE-2E44-9215-8CD5E59D38A1}"/>
              </a:ext>
            </a:extLst>
          </p:cNvPr>
          <p:cNvSpPr txBox="1"/>
          <p:nvPr/>
        </p:nvSpPr>
        <p:spPr>
          <a:xfrm>
            <a:off x="8204200" y="2310021"/>
            <a:ext cx="302879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zh-CN" sz="1100" dirty="0"/>
              <a:t>{</a:t>
            </a:r>
            <a:br>
              <a:rPr lang="en-US" altLang="zh-CN" sz="1100" dirty="0"/>
            </a:br>
            <a:r>
              <a:rPr lang="en-US" altLang="zh-CN" sz="1100" dirty="0"/>
              <a:t>"</a:t>
            </a:r>
            <a:r>
              <a:rPr lang="en-US" altLang="zh-CN" sz="1100" dirty="0" err="1"/>
              <a:t>primary_diagnosis</a:t>
            </a:r>
            <a:r>
              <a:rPr lang="en-US" altLang="zh-CN" sz="1100" dirty="0"/>
              <a:t>": "</a:t>
            </a:r>
            <a:r>
              <a:rPr lang="zh-CN" altLang="en-US" sz="1100" dirty="0"/>
              <a:t>高级别胶质瘤（疑似）</a:t>
            </a:r>
            <a:r>
              <a:rPr lang="en-US" altLang="zh-CN" sz="1100" dirty="0"/>
              <a:t>",</a:t>
            </a:r>
            <a:br>
              <a:rPr lang="en-US" altLang="zh-CN" sz="1100" dirty="0"/>
            </a:br>
            <a:r>
              <a:rPr lang="en-US" altLang="zh-CN" sz="1100" dirty="0"/>
              <a:t>"</a:t>
            </a:r>
            <a:r>
              <a:rPr lang="en-US" altLang="zh-CN" sz="1100" dirty="0" err="1"/>
              <a:t>lesion_location</a:t>
            </a:r>
            <a:r>
              <a:rPr lang="en-US" altLang="zh-CN" sz="1100" dirty="0"/>
              <a:t>": "</a:t>
            </a:r>
            <a:r>
              <a:rPr lang="zh-CN" altLang="en-US" sz="1100" dirty="0"/>
              <a:t>右侧额叶</a:t>
            </a:r>
            <a:r>
              <a:rPr lang="en-US" altLang="zh-CN" sz="1100" dirty="0"/>
              <a:t>",</a:t>
            </a:r>
            <a:br>
              <a:rPr lang="en-US" altLang="zh-CN" sz="1100" dirty="0"/>
            </a:br>
            <a:r>
              <a:rPr lang="en-US" altLang="zh-CN" sz="1100" dirty="0"/>
              <a:t>"</a:t>
            </a:r>
            <a:r>
              <a:rPr lang="en-US" altLang="zh-CN" sz="1100" dirty="0" err="1"/>
              <a:t>lesion_size</a:t>
            </a:r>
            <a:r>
              <a:rPr lang="en-US" altLang="zh-CN" sz="1100" dirty="0"/>
              <a:t>": "3.2cm×2.8cm",</a:t>
            </a:r>
            <a:br>
              <a:rPr lang="en-US" altLang="zh-CN" sz="1100" dirty="0"/>
            </a:br>
            <a:r>
              <a:rPr lang="en-US" altLang="zh-CN" sz="1100" dirty="0"/>
              <a:t>"</a:t>
            </a:r>
            <a:r>
              <a:rPr lang="en-US" altLang="zh-CN" sz="1100" dirty="0" err="1"/>
              <a:t>mass_effect</a:t>
            </a:r>
            <a:r>
              <a:rPr lang="en-US" altLang="zh-CN" sz="1100" dirty="0"/>
              <a:t>": "</a:t>
            </a:r>
            <a:r>
              <a:rPr lang="zh-CN" altLang="en-US" sz="1100" dirty="0"/>
              <a:t>中线轻度左移</a:t>
            </a:r>
            <a:r>
              <a:rPr lang="en-US" altLang="zh-CN" sz="1100" dirty="0"/>
              <a:t>",</a:t>
            </a:r>
            <a:br>
              <a:rPr lang="en-US" altLang="zh-CN" sz="1100" dirty="0"/>
            </a:br>
            <a:r>
              <a:rPr lang="en-US" altLang="zh-CN" sz="1100" dirty="0"/>
              <a:t>"edema": "</a:t>
            </a:r>
            <a:r>
              <a:rPr lang="zh-CN" altLang="en-US" sz="1100" dirty="0"/>
              <a:t>周围大片水肿</a:t>
            </a:r>
            <a:r>
              <a:rPr lang="en-US" altLang="zh-CN" sz="1100" dirty="0"/>
              <a:t>",</a:t>
            </a:r>
            <a:br>
              <a:rPr lang="en-US" altLang="zh-CN" sz="1100" dirty="0"/>
            </a:br>
            <a:r>
              <a:rPr lang="en-US" altLang="zh-CN" sz="1100" dirty="0"/>
              <a:t>"</a:t>
            </a:r>
            <a:r>
              <a:rPr lang="en-US" altLang="zh-CN" sz="1100" dirty="0" err="1"/>
              <a:t>enhancement_pattern</a:t>
            </a:r>
            <a:r>
              <a:rPr lang="en-US" altLang="zh-CN" sz="1100" dirty="0"/>
              <a:t>": "</a:t>
            </a:r>
            <a:r>
              <a:rPr lang="zh-CN" altLang="en-US" sz="1100" dirty="0"/>
              <a:t>不均匀强化</a:t>
            </a:r>
            <a:r>
              <a:rPr lang="en-US" altLang="zh-CN" sz="1100" dirty="0"/>
              <a:t>",</a:t>
            </a:r>
            <a:br>
              <a:rPr lang="en-US" altLang="zh-CN" sz="1100" dirty="0"/>
            </a:br>
            <a:r>
              <a:rPr lang="en-US" altLang="zh-CN" sz="1100" dirty="0"/>
              <a:t>"</a:t>
            </a:r>
            <a:r>
              <a:rPr lang="en-US" altLang="zh-CN" sz="1100" dirty="0" err="1"/>
              <a:t>surgery_type</a:t>
            </a:r>
            <a:r>
              <a:rPr lang="en-US" altLang="zh-CN" sz="1100" dirty="0"/>
              <a:t>": "</a:t>
            </a:r>
            <a:r>
              <a:rPr lang="zh-CN" altLang="en-US" sz="1100" dirty="0"/>
              <a:t>右额开颅肿瘤切除术</a:t>
            </a:r>
            <a:r>
              <a:rPr lang="en-US" altLang="zh-CN" sz="1100" dirty="0"/>
              <a:t>",</a:t>
            </a:r>
            <a:br>
              <a:rPr lang="en-US" altLang="zh-CN" sz="1100" dirty="0"/>
            </a:br>
            <a:r>
              <a:rPr lang="en-US" altLang="zh-CN" sz="1100" dirty="0"/>
              <a:t>"pathology": "</a:t>
            </a:r>
            <a:r>
              <a:rPr lang="zh-CN" altLang="en-US" sz="1100" dirty="0"/>
              <a:t>胶质母细胞瘤 </a:t>
            </a:r>
            <a:r>
              <a:rPr lang="en-US" altLang="zh-CN" sz="1100" dirty="0"/>
              <a:t>WHO 4</a:t>
            </a:r>
            <a:r>
              <a:rPr lang="zh-CN" altLang="en-US" sz="1100" dirty="0"/>
              <a:t>级</a:t>
            </a:r>
            <a:r>
              <a:rPr lang="en-US" altLang="zh-CN" sz="1100" dirty="0"/>
              <a:t>",</a:t>
            </a:r>
            <a:br>
              <a:rPr lang="en-US" altLang="zh-CN" sz="1100" dirty="0"/>
            </a:br>
            <a:r>
              <a:rPr lang="en-US" altLang="zh-CN" sz="1100" dirty="0"/>
              <a:t>"</a:t>
            </a:r>
            <a:r>
              <a:rPr lang="en-US" altLang="zh-CN" sz="1100" dirty="0" err="1"/>
              <a:t>postop_complications</a:t>
            </a:r>
            <a:r>
              <a:rPr lang="en-US" altLang="zh-CN" sz="1100" dirty="0"/>
              <a:t>": "",</a:t>
            </a:r>
            <a:br>
              <a:rPr lang="en-US" altLang="zh-CN" sz="1100" dirty="0"/>
            </a:br>
            <a:r>
              <a:rPr lang="en-US" altLang="zh-CN" sz="1100" dirty="0"/>
              <a:t>"</a:t>
            </a:r>
            <a:r>
              <a:rPr lang="en-US" altLang="zh-CN" sz="1100" dirty="0" err="1"/>
              <a:t>followup_outcome</a:t>
            </a:r>
            <a:r>
              <a:rPr lang="en-US" altLang="zh-CN" sz="1100" dirty="0"/>
              <a:t>": "</a:t>
            </a:r>
            <a:r>
              <a:rPr lang="zh-CN" altLang="en-US" sz="1100" dirty="0"/>
              <a:t>术后</a:t>
            </a:r>
            <a:r>
              <a:rPr lang="en-US" altLang="zh-CN" sz="1100" dirty="0"/>
              <a:t>3</a:t>
            </a:r>
            <a:r>
              <a:rPr lang="zh-CN" altLang="en-US" sz="1100" dirty="0"/>
              <a:t>个月疑似复发</a:t>
            </a:r>
            <a:r>
              <a:rPr lang="en-US" altLang="zh-CN" sz="1100" dirty="0"/>
              <a:t>"</a:t>
            </a:r>
            <a:br>
              <a:rPr lang="en-US" altLang="zh-CN" sz="1100" dirty="0"/>
            </a:br>
            <a:r>
              <a:rPr lang="en-US" altLang="zh-CN" sz="1100" dirty="0"/>
              <a:t>}</a:t>
            </a: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06B7048F-ACF4-1B86-6724-CA01E210DD4A}"/>
              </a:ext>
            </a:extLst>
          </p:cNvPr>
          <p:cNvCxnSpPr>
            <a:stCxn id="31" idx="3"/>
            <a:endCxn id="33" idx="1"/>
          </p:cNvCxnSpPr>
          <p:nvPr/>
        </p:nvCxnSpPr>
        <p:spPr>
          <a:xfrm>
            <a:off x="6992643" y="3350820"/>
            <a:ext cx="1211557" cy="21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679FA977-E594-BCE0-4138-2BC64454E1D3}"/>
              </a:ext>
            </a:extLst>
          </p:cNvPr>
          <p:cNvSpPr txBox="1"/>
          <p:nvPr/>
        </p:nvSpPr>
        <p:spPr>
          <a:xfrm>
            <a:off x="8204200" y="2023083"/>
            <a:ext cx="14418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结构化以后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ACF4452-E50E-B73A-BB4E-C3A7A59B7281}"/>
              </a:ext>
            </a:extLst>
          </p:cNvPr>
          <p:cNvSpPr txBox="1"/>
          <p:nvPr/>
        </p:nvSpPr>
        <p:spPr>
          <a:xfrm>
            <a:off x="878837" y="4495079"/>
            <a:ext cx="82338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TODO</a:t>
            </a:r>
            <a:r>
              <a:rPr lang="zh-CN" altLang="en-US" sz="1400" dirty="0"/>
              <a:t>： </a:t>
            </a:r>
            <a:endParaRPr lang="en-US" altLang="zh-CN" sz="1400" dirty="0"/>
          </a:p>
          <a:p>
            <a:br>
              <a:rPr lang="en-US" altLang="zh-CN" sz="1400" dirty="0"/>
            </a:br>
            <a:r>
              <a:rPr lang="en-US" altLang="zh-CN" sz="1400" dirty="0"/>
              <a:t>1.</a:t>
            </a:r>
            <a:r>
              <a:rPr lang="zh-CN" altLang="en-US" sz="1400" dirty="0"/>
              <a:t> 调研结构化抽取方法调研， 文本正则？大模型抽取？   需要的潜在支持：大模型</a:t>
            </a:r>
            <a:r>
              <a:rPr lang="en-US" altLang="zh-CN" sz="1400" dirty="0" err="1"/>
              <a:t>api</a:t>
            </a:r>
            <a:r>
              <a:rPr lang="zh-CN" altLang="en-US" sz="1400" dirty="0"/>
              <a:t>调用 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C8EDFF6-DBB5-B22A-F5C4-FBE6BDE87440}"/>
              </a:ext>
            </a:extLst>
          </p:cNvPr>
          <p:cNvSpPr txBox="1"/>
          <p:nvPr/>
        </p:nvSpPr>
        <p:spPr>
          <a:xfrm>
            <a:off x="896643" y="5298855"/>
            <a:ext cx="10094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2.</a:t>
            </a:r>
            <a:r>
              <a:rPr lang="zh-CN" altLang="en-US" sz="1400" dirty="0"/>
              <a:t> 文本表征</a:t>
            </a:r>
            <a:r>
              <a:rPr lang="en-US" altLang="zh-CN" sz="1400" dirty="0"/>
              <a:t>embedding</a:t>
            </a:r>
            <a:r>
              <a:rPr lang="zh-CN" altLang="en-US" sz="1400" dirty="0"/>
              <a:t>方式调研，直接把结构化字段作为模型输入（利用</a:t>
            </a:r>
            <a:r>
              <a:rPr lang="en-US" altLang="zh-CN" sz="1400" dirty="0" err="1"/>
              <a:t>mllm</a:t>
            </a:r>
            <a:r>
              <a:rPr lang="zh-CN" altLang="en-US" sz="1400" dirty="0"/>
              <a:t>原生结构）？把结构化内容再转成规范文本，再做 </a:t>
            </a:r>
            <a:r>
              <a:rPr lang="en-US" altLang="zh-CN" sz="1400" dirty="0"/>
              <a:t>embedding</a:t>
            </a:r>
            <a:r>
              <a:rPr lang="zh-CN" altLang="en-US" sz="1400" dirty="0"/>
              <a:t>？（新增</a:t>
            </a:r>
            <a:r>
              <a:rPr lang="en-US" altLang="zh-CN" sz="1400" dirty="0"/>
              <a:t>pretrained text encoder</a:t>
            </a:r>
            <a:r>
              <a:rPr lang="zh-CN" altLang="en-US" sz="1400" dirty="0"/>
              <a:t>模块做这件事情）</a:t>
            </a:r>
          </a:p>
        </p:txBody>
      </p:sp>
    </p:spTree>
    <p:extLst>
      <p:ext uri="{BB962C8B-B14F-4D97-AF65-F5344CB8AC3E}">
        <p14:creationId xmlns:p14="http://schemas.microsoft.com/office/powerpoint/2010/main" val="3551554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846</Words>
  <Application>Microsoft Office PowerPoint</Application>
  <PresentationFormat>宽屏</PresentationFormat>
  <Paragraphs>40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兆熙 林</dc:creator>
  <cp:lastModifiedBy>兆熙 林</cp:lastModifiedBy>
  <cp:revision>4</cp:revision>
  <dcterms:created xsi:type="dcterms:W3CDTF">2026-03-07T08:19:29Z</dcterms:created>
  <dcterms:modified xsi:type="dcterms:W3CDTF">2026-03-09T12:46:43Z</dcterms:modified>
</cp:coreProperties>
</file>